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59" r:id="rId9"/>
  </p:sldIdLst>
  <p:sldSz cx="9753600" cy="7315200"/>
  <p:notesSz cx="6858000" cy="9144000"/>
  <p:embeddedFontLst>
    <p:embeddedFont>
      <p:font typeface="Arial Bold Italics" charset="1" panose="020B0704020202090204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6"/>
    </p:embeddedFont>
    <p:embeddedFont>
      <p:font typeface="Noto Sans" charset="1" panose="020B050204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theme" Target="theme/theme2.xml"/><Relationship Id="rId12" Type="http://schemas.openxmlformats.org/officeDocument/2006/relationships/notesSlide" Target="notesSlides/notesSlide1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notesSlide" Target="notesSlides/notesSlide2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notesSlide" Target="notesSlides/notesSlide3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(Object Detection, YOLO-Tinyv3/4)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Cố gắng định lượng hóa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Cố gắng định lượng hóa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  <p:txBody>
            <a:bodyPr/>
            <a:p/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19200" y="670560"/>
            <a:ext cx="8546254" cy="2743200"/>
          </a:xfrm>
          <a:custGeom>
            <a:avLst/>
            <a:gdLst/>
            <a:ahLst/>
            <a:cxnLst/>
            <a:rect r="r" b="b" t="t" l="l"/>
            <a:pathLst>
              <a:path h="2743200" w="8546254">
                <a:moveTo>
                  <a:pt x="0" y="0"/>
                </a:moveTo>
                <a:lnTo>
                  <a:pt x="8546254" y="0"/>
                </a:lnTo>
                <a:lnTo>
                  <a:pt x="8546254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8" id="8"/>
          <p:cNvGrpSpPr/>
          <p:nvPr/>
        </p:nvGrpSpPr>
        <p:grpSpPr>
          <a:xfrm rot="0">
            <a:off x="1205653" y="3351107"/>
            <a:ext cx="8547947" cy="612987"/>
            <a:chOff x="0" y="0"/>
            <a:chExt cx="11397262" cy="8173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97234" cy="817372"/>
            </a:xfrm>
            <a:custGeom>
              <a:avLst/>
              <a:gdLst/>
              <a:ahLst/>
              <a:cxnLst/>
              <a:rect r="r" b="b" t="t" l="l"/>
              <a:pathLst>
                <a:path h="817372" w="11397234">
                  <a:moveTo>
                    <a:pt x="0" y="0"/>
                  </a:moveTo>
                  <a:lnTo>
                    <a:pt x="11397234" y="0"/>
                  </a:lnTo>
                  <a:lnTo>
                    <a:pt x="11397234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000798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1294" y="2689013"/>
            <a:ext cx="614679" cy="684107"/>
            <a:chOff x="0" y="0"/>
            <a:chExt cx="819573" cy="9121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9531" cy="912114"/>
            </a:xfrm>
            <a:custGeom>
              <a:avLst/>
              <a:gdLst/>
              <a:ahLst/>
              <a:cxnLst/>
              <a:rect r="r" b="b" t="t" l="l"/>
              <a:pathLst>
                <a:path h="912114" w="819531">
                  <a:moveTo>
                    <a:pt x="0" y="0"/>
                  </a:moveTo>
                  <a:lnTo>
                    <a:pt x="819531" y="0"/>
                  </a:lnTo>
                  <a:lnTo>
                    <a:pt x="819531" y="912114"/>
                  </a:lnTo>
                  <a:lnTo>
                    <a:pt x="0" y="912114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30494" y="670560"/>
            <a:ext cx="604519" cy="679027"/>
            <a:chOff x="0" y="0"/>
            <a:chExt cx="806026" cy="9053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6069" cy="905383"/>
            </a:xfrm>
            <a:custGeom>
              <a:avLst/>
              <a:gdLst/>
              <a:ahLst/>
              <a:cxnLst/>
              <a:rect r="r" b="b" t="t" l="l"/>
              <a:pathLst>
                <a:path h="905383" w="806069">
                  <a:moveTo>
                    <a:pt x="0" y="0"/>
                  </a:moveTo>
                  <a:lnTo>
                    <a:pt x="806069" y="0"/>
                  </a:lnTo>
                  <a:lnTo>
                    <a:pt x="806069" y="905383"/>
                  </a:lnTo>
                  <a:lnTo>
                    <a:pt x="0" y="905383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29934" y="0"/>
            <a:ext cx="624839" cy="677333"/>
            <a:chOff x="0" y="0"/>
            <a:chExt cx="833119" cy="903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3120" cy="903097"/>
            </a:xfrm>
            <a:custGeom>
              <a:avLst/>
              <a:gdLst/>
              <a:ahLst/>
              <a:cxnLst/>
              <a:rect r="r" b="b" t="t" l="l"/>
              <a:pathLst>
                <a:path h="903097" w="833120">
                  <a:moveTo>
                    <a:pt x="0" y="0"/>
                  </a:moveTo>
                  <a:lnTo>
                    <a:pt x="833120" y="0"/>
                  </a:lnTo>
                  <a:lnTo>
                    <a:pt x="833120" y="903097"/>
                  </a:lnTo>
                  <a:lnTo>
                    <a:pt x="0" y="903097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33321" y="670560"/>
            <a:ext cx="624839" cy="673947"/>
            <a:chOff x="0" y="0"/>
            <a:chExt cx="833119" cy="8985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120" cy="898652"/>
            </a:xfrm>
            <a:custGeom>
              <a:avLst/>
              <a:gdLst/>
              <a:ahLst/>
              <a:cxnLst/>
              <a:rect r="r" b="b" t="t" l="l"/>
              <a:pathLst>
                <a:path h="898652" w="833120">
                  <a:moveTo>
                    <a:pt x="0" y="0"/>
                  </a:moveTo>
                  <a:lnTo>
                    <a:pt x="833120" y="0"/>
                  </a:lnTo>
                  <a:lnTo>
                    <a:pt x="833120" y="898652"/>
                  </a:lnTo>
                  <a:lnTo>
                    <a:pt x="0" y="898652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7507" y="1346201"/>
            <a:ext cx="612987" cy="667173"/>
            <a:chOff x="0" y="0"/>
            <a:chExt cx="817316" cy="8895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7372" cy="889508"/>
            </a:xfrm>
            <a:custGeom>
              <a:avLst/>
              <a:gdLst/>
              <a:ahLst/>
              <a:cxnLst/>
              <a:rect r="r" b="b" t="t" l="l"/>
              <a:pathLst>
                <a:path h="889508" w="817372">
                  <a:moveTo>
                    <a:pt x="0" y="0"/>
                  </a:moveTo>
                  <a:lnTo>
                    <a:pt x="817372" y="0"/>
                  </a:lnTo>
                  <a:lnTo>
                    <a:pt x="817372" y="889508"/>
                  </a:lnTo>
                  <a:lnTo>
                    <a:pt x="0" y="889508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30494" y="1347893"/>
            <a:ext cx="604519" cy="663787"/>
            <a:chOff x="0" y="0"/>
            <a:chExt cx="806026" cy="8850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6069" cy="885063"/>
            </a:xfrm>
            <a:custGeom>
              <a:avLst/>
              <a:gdLst/>
              <a:ahLst/>
              <a:cxnLst/>
              <a:rect r="r" b="b" t="t" l="l"/>
              <a:pathLst>
                <a:path h="885063" w="806069">
                  <a:moveTo>
                    <a:pt x="0" y="0"/>
                  </a:moveTo>
                  <a:lnTo>
                    <a:pt x="806069" y="0"/>
                  </a:lnTo>
                  <a:lnTo>
                    <a:pt x="806069" y="885063"/>
                  </a:lnTo>
                  <a:lnTo>
                    <a:pt x="0" y="885063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1294" y="2011680"/>
            <a:ext cx="614679" cy="687493"/>
            <a:chOff x="0" y="0"/>
            <a:chExt cx="819573" cy="9166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9531" cy="916686"/>
            </a:xfrm>
            <a:custGeom>
              <a:avLst/>
              <a:gdLst/>
              <a:ahLst/>
              <a:cxnLst/>
              <a:rect r="r" b="b" t="t" l="l"/>
              <a:pathLst>
                <a:path h="916686" w="819531">
                  <a:moveTo>
                    <a:pt x="0" y="0"/>
                  </a:moveTo>
                  <a:lnTo>
                    <a:pt x="819531" y="0"/>
                  </a:lnTo>
                  <a:lnTo>
                    <a:pt x="819531" y="916686"/>
                  </a:lnTo>
                  <a:lnTo>
                    <a:pt x="0" y="916686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7507" y="2011680"/>
            <a:ext cx="614679" cy="687493"/>
            <a:chOff x="0" y="0"/>
            <a:chExt cx="819573" cy="9166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9531" cy="916686"/>
            </a:xfrm>
            <a:custGeom>
              <a:avLst/>
              <a:gdLst/>
              <a:ahLst/>
              <a:cxnLst/>
              <a:rect r="r" b="b" t="t" l="l"/>
              <a:pathLst>
                <a:path h="916686" w="819531">
                  <a:moveTo>
                    <a:pt x="0" y="0"/>
                  </a:moveTo>
                  <a:lnTo>
                    <a:pt x="819531" y="0"/>
                  </a:lnTo>
                  <a:lnTo>
                    <a:pt x="819531" y="916686"/>
                  </a:lnTo>
                  <a:lnTo>
                    <a:pt x="0" y="916686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0" y="2697481"/>
            <a:ext cx="612987" cy="675639"/>
            <a:chOff x="0" y="0"/>
            <a:chExt cx="817316" cy="9008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7372" cy="900811"/>
            </a:xfrm>
            <a:custGeom>
              <a:avLst/>
              <a:gdLst/>
              <a:ahLst/>
              <a:cxnLst/>
              <a:rect r="r" b="b" t="t" l="l"/>
              <a:pathLst>
                <a:path h="900811" w="817372">
                  <a:moveTo>
                    <a:pt x="0" y="0"/>
                  </a:moveTo>
                  <a:lnTo>
                    <a:pt x="817372" y="0"/>
                  </a:lnTo>
                  <a:lnTo>
                    <a:pt x="817372" y="900811"/>
                  </a:lnTo>
                  <a:lnTo>
                    <a:pt x="0" y="900811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3982720" y="5770880"/>
            <a:ext cx="1788159" cy="1169456"/>
            <a:chOff x="0" y="0"/>
            <a:chExt cx="2384212" cy="1559275"/>
          </a:xfrm>
        </p:grpSpPr>
        <p:sp>
          <p:nvSpPr>
            <p:cNvPr name="Freeform 29" id="29" descr="EDA logo_Grass ver.png"/>
            <p:cNvSpPr/>
            <p:nvPr/>
          </p:nvSpPr>
          <p:spPr>
            <a:xfrm flipH="false" flipV="false" rot="0">
              <a:off x="0" y="0"/>
              <a:ext cx="2384171" cy="1559306"/>
            </a:xfrm>
            <a:custGeom>
              <a:avLst/>
              <a:gdLst/>
              <a:ahLst/>
              <a:cxnLst/>
              <a:rect r="r" b="b" t="t" l="l"/>
              <a:pathLst>
                <a:path h="1559306" w="2384171">
                  <a:moveTo>
                    <a:pt x="0" y="0"/>
                  </a:moveTo>
                  <a:lnTo>
                    <a:pt x="2384171" y="0"/>
                  </a:lnTo>
                  <a:lnTo>
                    <a:pt x="2384171" y="1559306"/>
                  </a:lnTo>
                  <a:lnTo>
                    <a:pt x="0" y="155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-1" b="-62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69440" y="894080"/>
            <a:ext cx="7884160" cy="2702961"/>
            <a:chOff x="0" y="0"/>
            <a:chExt cx="10512213" cy="36039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12213" cy="3603948"/>
            </a:xfrm>
            <a:custGeom>
              <a:avLst/>
              <a:gdLst/>
              <a:ahLst/>
              <a:cxnLst/>
              <a:rect r="r" b="b" t="t" l="l"/>
              <a:pathLst>
                <a:path h="3603948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3603948"/>
                  </a:lnTo>
                  <a:lnTo>
                    <a:pt x="0" y="3603948"/>
                  </a:lnTo>
                  <a:close/>
                </a:path>
              </a:pathLst>
            </a:custGeom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512213" cy="3632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/>
              <a:r>
                <a:rPr sz="3000">
                  <a:solidFill>
                    <a:srgbClr val="FFFFFF"/>
                  </a:solidFill>
                </a:rPr>
                <a:t>NGHIÊN CỨU FLOW THỰC THI ELF</a:t>
              </a:r>
            </a:p>
            <a:p>
              <a:pPr algn="ctr"/>
              <a:r>
                <a:rPr sz="3000">
                  <a:solidFill>
                    <a:srgbClr val="FFFFFF"/>
                  </a:solidFill>
                </a:rPr>
                <a:t>TRÊN PULP: GVSoC VÀ RTL</a:t>
              </a:r>
            </a:p>
          </p:txBody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0" y="3879134"/>
            <a:ext cx="3251198" cy="2126284"/>
            <a:chOff x="0" y="0"/>
            <a:chExt cx="4334930" cy="2835045"/>
          </a:xfrm>
        </p:grpSpPr>
        <p:sp>
          <p:nvSpPr>
            <p:cNvPr name="Freeform 34" id="34" descr="EDA logo_Grass ver.png"/>
            <p:cNvSpPr/>
            <p:nvPr/>
          </p:nvSpPr>
          <p:spPr>
            <a:xfrm flipH="false" flipV="false" rot="0">
              <a:off x="0" y="0"/>
              <a:ext cx="4334891" cy="2835021"/>
            </a:xfrm>
            <a:custGeom>
              <a:avLst/>
              <a:gdLst/>
              <a:ahLst/>
              <a:cxnLst/>
              <a:rect r="r" b="b" t="t" l="l"/>
              <a:pathLst>
                <a:path h="283502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2835021"/>
                  </a:lnTo>
                  <a:lnTo>
                    <a:pt x="0" y="2835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0" b="-6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3711786" y="5919893"/>
            <a:ext cx="2059093" cy="1327573"/>
            <a:chOff x="0" y="0"/>
            <a:chExt cx="2745458" cy="17700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8034" y="18034"/>
              <a:ext cx="2709418" cy="1734058"/>
            </a:xfrm>
            <a:custGeom>
              <a:avLst/>
              <a:gdLst/>
              <a:ahLst/>
              <a:cxnLst/>
              <a:rect r="r" b="b" t="t" l="l"/>
              <a:pathLst>
                <a:path h="1734058" w="2709418">
                  <a:moveTo>
                    <a:pt x="0" y="0"/>
                  </a:moveTo>
                  <a:lnTo>
                    <a:pt x="2709418" y="0"/>
                  </a:lnTo>
                  <a:lnTo>
                    <a:pt x="2709418" y="1734058"/>
                  </a:lnTo>
                  <a:lnTo>
                    <a:pt x="0" y="1734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5486" cy="1770126"/>
            </a:xfrm>
            <a:custGeom>
              <a:avLst/>
              <a:gdLst/>
              <a:ahLst/>
              <a:cxnLst/>
              <a:rect r="r" b="b" t="t" l="l"/>
              <a:pathLst>
                <a:path h="1770126" w="2745486">
                  <a:moveTo>
                    <a:pt x="18034" y="0"/>
                  </a:moveTo>
                  <a:lnTo>
                    <a:pt x="2727452" y="0"/>
                  </a:lnTo>
                  <a:cubicBezTo>
                    <a:pt x="2737485" y="0"/>
                    <a:pt x="2745486" y="8128"/>
                    <a:pt x="2745486" y="18034"/>
                  </a:cubicBezTo>
                  <a:lnTo>
                    <a:pt x="2745486" y="1752092"/>
                  </a:lnTo>
                  <a:cubicBezTo>
                    <a:pt x="2745486" y="1762125"/>
                    <a:pt x="2737358" y="1770126"/>
                    <a:pt x="2727452" y="1770126"/>
                  </a:cubicBezTo>
                  <a:lnTo>
                    <a:pt x="18034" y="1770126"/>
                  </a:lnTo>
                  <a:cubicBezTo>
                    <a:pt x="8001" y="1770126"/>
                    <a:pt x="0" y="1761998"/>
                    <a:pt x="0" y="1752092"/>
                  </a:cubicBezTo>
                  <a:lnTo>
                    <a:pt x="0" y="18034"/>
                  </a:lnTo>
                  <a:cubicBezTo>
                    <a:pt x="0" y="8128"/>
                    <a:pt x="8128" y="0"/>
                    <a:pt x="18034" y="0"/>
                  </a:cubicBezTo>
                  <a:moveTo>
                    <a:pt x="18034" y="36068"/>
                  </a:moveTo>
                  <a:lnTo>
                    <a:pt x="18034" y="18034"/>
                  </a:lnTo>
                  <a:lnTo>
                    <a:pt x="36068" y="18034"/>
                  </a:lnTo>
                  <a:lnTo>
                    <a:pt x="36068" y="1752092"/>
                  </a:lnTo>
                  <a:lnTo>
                    <a:pt x="18034" y="1752092"/>
                  </a:lnTo>
                  <a:lnTo>
                    <a:pt x="18034" y="1734058"/>
                  </a:lnTo>
                  <a:lnTo>
                    <a:pt x="2727452" y="1734058"/>
                  </a:lnTo>
                  <a:lnTo>
                    <a:pt x="2727452" y="1752092"/>
                  </a:lnTo>
                  <a:lnTo>
                    <a:pt x="2709418" y="1752092"/>
                  </a:lnTo>
                  <a:lnTo>
                    <a:pt x="2709418" y="18034"/>
                  </a:lnTo>
                  <a:lnTo>
                    <a:pt x="2727452" y="18034"/>
                  </a:lnTo>
                  <a:lnTo>
                    <a:pt x="2727452" y="36068"/>
                  </a:lnTo>
                  <a:lnTo>
                    <a:pt x="18034" y="360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51198" y="4195661"/>
            <a:ext cx="6356574" cy="2574036"/>
            <a:chOff x="0" y="0"/>
            <a:chExt cx="8475432" cy="34320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75432" cy="3432048"/>
            </a:xfrm>
            <a:custGeom>
              <a:avLst/>
              <a:gdLst/>
              <a:ahLst/>
              <a:cxnLst/>
              <a:rect r="r" b="b" t="t" l="l"/>
              <a:pathLst>
                <a:path h="3432048" w="8475432">
                  <a:moveTo>
                    <a:pt x="0" y="0"/>
                  </a:moveTo>
                  <a:lnTo>
                    <a:pt x="8475432" y="0"/>
                  </a:lnTo>
                  <a:lnTo>
                    <a:pt x="8475432" y="3432048"/>
                  </a:lnTo>
                  <a:lnTo>
                    <a:pt x="0" y="3432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6953" t="0" r="-6953" b="0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21920" y="-62865"/>
              <a:ext cx="8231592" cy="3433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r>
                <a:rPr sz="1650">
                  <a:solidFill>
                    <a:srgbClr val="000572"/>
                  </a:solidFill>
                </a:rPr>
                <a:t>Thực hiện	: Phạm Hùng Hòa</a:t>
              </a:r>
            </a:p>
            <a:p>
              <a:r>
                <a:rPr sz="1650">
                  <a:solidFill>
                    <a:srgbClr val="000572"/>
                  </a:solidFill>
                </a:rPr>
                <a:t>                  Phạm Chí Dũng</a:t>
              </a:r>
            </a:p>
            <a:p>
              <a:r>
                <a:rPr sz="1650">
                  <a:solidFill>
                    <a:srgbClr val="000572"/>
                  </a:solidFill>
                </a:rPr>
                <a:t>                  Đỗ Xuân Hào</a:t>
              </a:r>
            </a:p>
            <a:p>
              <a:r>
                <a:rPr sz="1650">
                  <a:solidFill>
                    <a:srgbClr val="000572"/>
                  </a:solidFill>
                </a:rPr>
                <a:t>GVHD	: Thầy Nguyễn Đức Minh</a:t>
              </a:r>
            </a:p>
            <a:p>
              <a:r>
                <a:rPr sz="1650">
                  <a:solidFill>
                    <a:srgbClr val="000572"/>
                  </a:solidFill>
                </a:rPr>
                <a:t>                  Cô Hoàng Phương Chi</a:t>
              </a:r>
            </a:p>
            <a:p/>
            <a:p>
              <a:r>
                <a:rPr sz="1650">
                  <a:solidFill>
                    <a:srgbClr val="000572"/>
                  </a:solidFill>
                </a:rPr>
                <a:t>Ngày báo cáo: 03/10/2026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Nhiệm vụ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16560" y="1346835"/>
            <a:ext cx="8041423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Bắt tay vào tìm hiểu, đọc doc, down </a:t>
            </a: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code, </a:t>
            </a: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biên dịch thử, mô phỏng thử PULP platform</a:t>
            </a:r>
          </a:p>
          <a:p>
            <a:pPr algn="l">
              <a:lnSpc>
                <a:spcPts val="358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14</a:t>
              </a: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/08/2026: Công việc đã thực hiện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16560" y="1346835"/>
            <a:ext cx="8041423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237" indent="-192119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Đọc tổng quan datasheet Z</a:t>
            </a: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CU104, PULP </a:t>
            </a:r>
          </a:p>
          <a:p>
            <a:pPr algn="l" marL="384237" indent="-192119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Bóc tách link github </a:t>
            </a:r>
          </a:p>
          <a:p>
            <a:pPr algn="l" marL="384237" indent="-192119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lập môi trường và khởi ch</a:t>
            </a: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ạy thành công mô phỏng RTL cho kiến trúc hệ thống đa nhân PULP SoC trên phần mềm Vivado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4" r="3" b="-64"/>
              </a:stretch>
            </a:blipFill>
          </p:spPr>
          <p:txBody>
            <a:bodyPr/>
            <a:p/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19200" y="670560"/>
            <a:ext cx="8546254" cy="2743200"/>
          </a:xfrm>
          <a:custGeom>
            <a:avLst/>
            <a:gdLst/>
            <a:ahLst/>
            <a:cxnLst/>
            <a:rect r="r" b="b" t="t" l="l"/>
            <a:pathLst>
              <a:path h="2743200" w="8546254">
                <a:moveTo>
                  <a:pt x="0" y="0"/>
                </a:moveTo>
                <a:lnTo>
                  <a:pt x="8546254" y="0"/>
                </a:lnTo>
                <a:lnTo>
                  <a:pt x="8546254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8" id="8"/>
          <p:cNvGrpSpPr/>
          <p:nvPr/>
        </p:nvGrpSpPr>
        <p:grpSpPr>
          <a:xfrm rot="0">
            <a:off x="1205653" y="3351107"/>
            <a:ext cx="8547947" cy="612987"/>
            <a:chOff x="0" y="0"/>
            <a:chExt cx="11397262" cy="8173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97234" cy="817372"/>
            </a:xfrm>
            <a:custGeom>
              <a:avLst/>
              <a:gdLst/>
              <a:ahLst/>
              <a:cxnLst/>
              <a:rect r="r" b="b" t="t" l="l"/>
              <a:pathLst>
                <a:path h="817372" w="11397234">
                  <a:moveTo>
                    <a:pt x="0" y="0"/>
                  </a:moveTo>
                  <a:lnTo>
                    <a:pt x="11397234" y="0"/>
                  </a:lnTo>
                  <a:lnTo>
                    <a:pt x="11397234" y="817372"/>
                  </a:lnTo>
                  <a:lnTo>
                    <a:pt x="0" y="817372"/>
                  </a:lnTo>
                  <a:close/>
                </a:path>
              </a:pathLst>
            </a:custGeom>
            <a:solidFill>
              <a:srgbClr val="000798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1294" y="2689013"/>
            <a:ext cx="614679" cy="684107"/>
            <a:chOff x="0" y="0"/>
            <a:chExt cx="819573" cy="9121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9531" cy="912114"/>
            </a:xfrm>
            <a:custGeom>
              <a:avLst/>
              <a:gdLst/>
              <a:ahLst/>
              <a:cxnLst/>
              <a:rect r="r" b="b" t="t" l="l"/>
              <a:pathLst>
                <a:path h="912114" w="819531">
                  <a:moveTo>
                    <a:pt x="0" y="0"/>
                  </a:moveTo>
                  <a:lnTo>
                    <a:pt x="819531" y="0"/>
                  </a:lnTo>
                  <a:lnTo>
                    <a:pt x="819531" y="912114"/>
                  </a:lnTo>
                  <a:lnTo>
                    <a:pt x="0" y="912114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30494" y="670560"/>
            <a:ext cx="604519" cy="679027"/>
            <a:chOff x="0" y="0"/>
            <a:chExt cx="806026" cy="9053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6069" cy="905383"/>
            </a:xfrm>
            <a:custGeom>
              <a:avLst/>
              <a:gdLst/>
              <a:ahLst/>
              <a:cxnLst/>
              <a:rect r="r" b="b" t="t" l="l"/>
              <a:pathLst>
                <a:path h="905383" w="806069">
                  <a:moveTo>
                    <a:pt x="0" y="0"/>
                  </a:moveTo>
                  <a:lnTo>
                    <a:pt x="806069" y="0"/>
                  </a:lnTo>
                  <a:lnTo>
                    <a:pt x="806069" y="905383"/>
                  </a:lnTo>
                  <a:lnTo>
                    <a:pt x="0" y="905383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29934" y="0"/>
            <a:ext cx="624839" cy="677333"/>
            <a:chOff x="0" y="0"/>
            <a:chExt cx="833119" cy="903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3120" cy="903097"/>
            </a:xfrm>
            <a:custGeom>
              <a:avLst/>
              <a:gdLst/>
              <a:ahLst/>
              <a:cxnLst/>
              <a:rect r="r" b="b" t="t" l="l"/>
              <a:pathLst>
                <a:path h="903097" w="833120">
                  <a:moveTo>
                    <a:pt x="0" y="0"/>
                  </a:moveTo>
                  <a:lnTo>
                    <a:pt x="833120" y="0"/>
                  </a:lnTo>
                  <a:lnTo>
                    <a:pt x="833120" y="903097"/>
                  </a:lnTo>
                  <a:lnTo>
                    <a:pt x="0" y="903097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33321" y="670560"/>
            <a:ext cx="624839" cy="673947"/>
            <a:chOff x="0" y="0"/>
            <a:chExt cx="833119" cy="8985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120" cy="898652"/>
            </a:xfrm>
            <a:custGeom>
              <a:avLst/>
              <a:gdLst/>
              <a:ahLst/>
              <a:cxnLst/>
              <a:rect r="r" b="b" t="t" l="l"/>
              <a:pathLst>
                <a:path h="898652" w="833120">
                  <a:moveTo>
                    <a:pt x="0" y="0"/>
                  </a:moveTo>
                  <a:lnTo>
                    <a:pt x="833120" y="0"/>
                  </a:lnTo>
                  <a:lnTo>
                    <a:pt x="833120" y="898652"/>
                  </a:lnTo>
                  <a:lnTo>
                    <a:pt x="0" y="898652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7507" y="1346201"/>
            <a:ext cx="612987" cy="667173"/>
            <a:chOff x="0" y="0"/>
            <a:chExt cx="817316" cy="8895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7372" cy="889508"/>
            </a:xfrm>
            <a:custGeom>
              <a:avLst/>
              <a:gdLst/>
              <a:ahLst/>
              <a:cxnLst/>
              <a:rect r="r" b="b" t="t" l="l"/>
              <a:pathLst>
                <a:path h="889508" w="817372">
                  <a:moveTo>
                    <a:pt x="0" y="0"/>
                  </a:moveTo>
                  <a:lnTo>
                    <a:pt x="817372" y="0"/>
                  </a:lnTo>
                  <a:lnTo>
                    <a:pt x="817372" y="889508"/>
                  </a:lnTo>
                  <a:lnTo>
                    <a:pt x="0" y="889508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30494" y="1347893"/>
            <a:ext cx="604519" cy="663787"/>
            <a:chOff x="0" y="0"/>
            <a:chExt cx="806026" cy="8850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6069" cy="885063"/>
            </a:xfrm>
            <a:custGeom>
              <a:avLst/>
              <a:gdLst/>
              <a:ahLst/>
              <a:cxnLst/>
              <a:rect r="r" b="b" t="t" l="l"/>
              <a:pathLst>
                <a:path h="885063" w="806069">
                  <a:moveTo>
                    <a:pt x="0" y="0"/>
                  </a:moveTo>
                  <a:lnTo>
                    <a:pt x="806069" y="0"/>
                  </a:lnTo>
                  <a:lnTo>
                    <a:pt x="806069" y="885063"/>
                  </a:lnTo>
                  <a:lnTo>
                    <a:pt x="0" y="885063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1294" y="2011680"/>
            <a:ext cx="614679" cy="687493"/>
            <a:chOff x="0" y="0"/>
            <a:chExt cx="819573" cy="9166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9531" cy="916686"/>
            </a:xfrm>
            <a:custGeom>
              <a:avLst/>
              <a:gdLst/>
              <a:ahLst/>
              <a:cxnLst/>
              <a:rect r="r" b="b" t="t" l="l"/>
              <a:pathLst>
                <a:path h="916686" w="819531">
                  <a:moveTo>
                    <a:pt x="0" y="0"/>
                  </a:moveTo>
                  <a:lnTo>
                    <a:pt x="819531" y="0"/>
                  </a:lnTo>
                  <a:lnTo>
                    <a:pt x="819531" y="916686"/>
                  </a:lnTo>
                  <a:lnTo>
                    <a:pt x="0" y="916686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7507" y="2011680"/>
            <a:ext cx="614679" cy="687493"/>
            <a:chOff x="0" y="0"/>
            <a:chExt cx="819573" cy="9166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9531" cy="916686"/>
            </a:xfrm>
            <a:custGeom>
              <a:avLst/>
              <a:gdLst/>
              <a:ahLst/>
              <a:cxnLst/>
              <a:rect r="r" b="b" t="t" l="l"/>
              <a:pathLst>
                <a:path h="916686" w="819531">
                  <a:moveTo>
                    <a:pt x="0" y="0"/>
                  </a:moveTo>
                  <a:lnTo>
                    <a:pt x="819531" y="0"/>
                  </a:lnTo>
                  <a:lnTo>
                    <a:pt x="819531" y="916686"/>
                  </a:lnTo>
                  <a:lnTo>
                    <a:pt x="0" y="916686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0" y="2697481"/>
            <a:ext cx="612987" cy="675639"/>
            <a:chOff x="0" y="0"/>
            <a:chExt cx="817316" cy="9008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7372" cy="900811"/>
            </a:xfrm>
            <a:custGeom>
              <a:avLst/>
              <a:gdLst/>
              <a:ahLst/>
              <a:cxnLst/>
              <a:rect r="r" b="b" t="t" l="l"/>
              <a:pathLst>
                <a:path h="900811" w="817372">
                  <a:moveTo>
                    <a:pt x="0" y="0"/>
                  </a:moveTo>
                  <a:lnTo>
                    <a:pt x="817372" y="0"/>
                  </a:lnTo>
                  <a:lnTo>
                    <a:pt x="817372" y="900811"/>
                  </a:lnTo>
                  <a:lnTo>
                    <a:pt x="0" y="900811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/>
            <a:p/>
          </p:txBody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3982720" y="5770880"/>
            <a:ext cx="1788159" cy="1169456"/>
            <a:chOff x="0" y="0"/>
            <a:chExt cx="2384212" cy="1559275"/>
          </a:xfrm>
        </p:grpSpPr>
        <p:sp>
          <p:nvSpPr>
            <p:cNvPr name="Freeform 29" id="29" descr="EDA logo_Grass ver.png"/>
            <p:cNvSpPr/>
            <p:nvPr/>
          </p:nvSpPr>
          <p:spPr>
            <a:xfrm flipH="false" flipV="false" rot="0">
              <a:off x="0" y="0"/>
              <a:ext cx="2384171" cy="1559306"/>
            </a:xfrm>
            <a:custGeom>
              <a:avLst/>
              <a:gdLst/>
              <a:ahLst/>
              <a:cxnLst/>
              <a:rect r="r" b="b" t="t" l="l"/>
              <a:pathLst>
                <a:path h="1559306" w="2384171">
                  <a:moveTo>
                    <a:pt x="0" y="0"/>
                  </a:moveTo>
                  <a:lnTo>
                    <a:pt x="2384171" y="0"/>
                  </a:lnTo>
                  <a:lnTo>
                    <a:pt x="2384171" y="1559306"/>
                  </a:lnTo>
                  <a:lnTo>
                    <a:pt x="0" y="155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4" r="-1" b="-62"/>
              </a:stretch>
            </a:blipFill>
          </p:spPr>
          <p:txBody>
            <a:bodyPr/>
            <a:p/>
          </p:txBody>
        </p:sp>
      </p:grpSp>
      <p:sp>
        <p:nvSpPr>
          <p:cNvPr name="TextBox 30" id="30"/>
          <p:cNvSpPr txBox="true"/>
          <p:nvPr/>
        </p:nvSpPr>
        <p:spPr>
          <a:xfrm rot="0">
            <a:off x="2985347" y="6359102"/>
            <a:ext cx="3019213" cy="34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PULP · GVSoC · RTL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33321" y="2291292"/>
            <a:ext cx="5886027" cy="78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3400">
                <a:solidFill>
                  <a:srgbClr val="99CCFF"/>
                </a:solidFill>
              </a:rPr>
              <a:t>THANK YOU!</a:t>
            </a:r>
          </a:p>
          <a:p>
            <a:r>
              <a:rPr sz="3400">
                <a:solidFill>
                  <a:srgbClr val="99CCFF"/>
                </a:solidFill>
              </a:rPr>
              <a:t>Q &amp; 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332480" y="5283200"/>
            <a:ext cx="3332480" cy="1463040"/>
            <a:chOff x="0" y="0"/>
            <a:chExt cx="4443307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43349" cy="1950720"/>
            </a:xfrm>
            <a:custGeom>
              <a:avLst/>
              <a:gdLst/>
              <a:ahLst/>
              <a:cxnLst/>
              <a:rect r="r" b="b" t="t" l="l"/>
              <a:pathLst>
                <a:path h="1950720" w="4443349">
                  <a:moveTo>
                    <a:pt x="0" y="0"/>
                  </a:moveTo>
                  <a:lnTo>
                    <a:pt x="4443349" y="0"/>
                  </a:lnTo>
                  <a:lnTo>
                    <a:pt x="444334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3373121" y="4951578"/>
            <a:ext cx="3251198" cy="2126284"/>
            <a:chOff x="0" y="0"/>
            <a:chExt cx="4334930" cy="2835045"/>
          </a:xfrm>
        </p:grpSpPr>
        <p:sp>
          <p:nvSpPr>
            <p:cNvPr name="Freeform 35" id="35" descr="EDA logo_Grass ver.png"/>
            <p:cNvSpPr/>
            <p:nvPr/>
          </p:nvSpPr>
          <p:spPr>
            <a:xfrm flipH="false" flipV="false" rot="0">
              <a:off x="0" y="0"/>
              <a:ext cx="4334891" cy="2835021"/>
            </a:xfrm>
            <a:custGeom>
              <a:avLst/>
              <a:gdLst/>
              <a:ahLst/>
              <a:cxnLst/>
              <a:rect r="r" b="b" t="t" l="l"/>
              <a:pathLst>
                <a:path h="283502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2835021"/>
                  </a:lnTo>
                  <a:lnTo>
                    <a:pt x="0" y="2835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4" r="0" b="-65"/>
              </a:stretch>
            </a:blipFill>
          </p:spPr>
          <p:txBody>
            <a:bodyPr/>
            <a:p/>
          </p:txBody>
        </p:sp>
      </p:grpSp>
      <p:sp>
        <p:nvSpPr>
          <p:cNvPr name="TextBox 36" id="36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r>
              <a:rPr sz="1000">
                <a:solidFill>
                  <a:srgbClr val="5E6B78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Bài toán cần giải quyết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BỐI CẢNH VÀ MỤC TIÊU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960120"/>
            <a:ext cx="868680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000572"/>
                </a:solidFill>
                <a:latin typeface="Arial"/>
              </a:rPr>
              <a:t>Từ chương trình C đến hoạt động phần cứng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691640"/>
            <a:ext cx="685800" cy="68580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1691640"/>
            <a:ext cx="71780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D3D"/>
                </a:solidFill>
                <a:latin typeface="Arial"/>
              </a:rPr>
              <a:t>Một file C/ELF được thực thi trong PULP như thế nào?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685800" cy="685800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2834640"/>
            <a:ext cx="71780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D3D"/>
                </a:solidFill>
                <a:latin typeface="Arial"/>
              </a:rPr>
              <a:t>Có thể chạy đúng cùng một ELF trên GVSoC và RTL không?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39"/>
            <a:ext cx="685800" cy="685800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40" y="3977639"/>
            <a:ext cx="71780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2D3D"/>
                </a:solidFill>
                <a:latin typeface="Arial"/>
              </a:rPr>
              <a:t>Làm sao nối lệnh CPU với giao dịch interconnect và waveform?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349240"/>
            <a:ext cx="8092440" cy="658368"/>
          </a:xfrm>
          <a:prstGeom prst="roundRect">
            <a:avLst/>
          </a:prstGeom>
          <a:solidFill>
            <a:srgbClr val="DDF3FA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123A70"/>
                </a:solidFill>
                <a:latin typeface="Arial"/>
              </a:rPr>
              <a:t>Đầu ra mong muốn: một chuỗi bằng chứng có thể kiểm tra lại — ELF → trace → transaction → waveform → kết quả.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Mục tiêu nghiên cứu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BỐI CẢNH VÀ MỤC TIÊU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987552"/>
            <a:ext cx="420624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987552"/>
            <a:ext cx="82296" cy="1353312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1115568"/>
            <a:ext cx="3886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69AA"/>
                </a:solidFill>
                <a:latin typeface="Arial"/>
              </a:rPr>
              <a:t>Workload đại diện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1499616"/>
            <a:ext cx="388620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1F2D3D"/>
                </a:solidFill>
                <a:latin typeface="Arial"/>
              </a:rPr>
              <a:t>Tạo chương trình vừa đủ để quan sát FC, cluster, TCDM, DMA và peripheral.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987552"/>
            <a:ext cx="420624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987552"/>
            <a:ext cx="82296" cy="1353312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1115568"/>
            <a:ext cx="3886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A6C8"/>
                </a:solidFill>
                <a:latin typeface="Arial"/>
              </a:rPr>
              <a:t>Một ELF duy nhất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1499616"/>
            <a:ext cx="388620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1F2D3D"/>
                </a:solidFill>
                <a:latin typeface="Arial"/>
              </a:rPr>
              <a:t>Khóa danh tính bằng SHA-256 trước khi chạy hai backend.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633472"/>
            <a:ext cx="420624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633472"/>
            <a:ext cx="82296" cy="1353312"/>
          </a:xfrm>
          <a:prstGeom prst="rect">
            <a:avLst/>
          </a:prstGeom>
          <a:solidFill>
            <a:srgbClr val="27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2761488"/>
            <a:ext cx="3886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7845C"/>
                </a:solidFill>
                <a:latin typeface="Arial"/>
              </a:rPr>
              <a:t>Hai lớp quan sát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145536"/>
            <a:ext cx="388620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1F2D3D"/>
                </a:solidFill>
                <a:latin typeface="Arial"/>
              </a:rPr>
              <a:t>Instruction trace cho software; waveform cho hoạt động RTL tự trị.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2633472"/>
            <a:ext cx="420624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2633472"/>
            <a:ext cx="82296" cy="1353312"/>
          </a:xfrm>
          <a:prstGeom prst="rect">
            <a:avLst/>
          </a:prstGeom>
          <a:solidFill>
            <a:srgbClr val="F2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76088" y="2761488"/>
            <a:ext cx="3886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A63B"/>
                </a:solidFill>
                <a:latin typeface="Arial"/>
              </a:rPr>
              <a:t>Trực quan hóa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3145536"/>
            <a:ext cx="388620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1F2D3D"/>
                </a:solidFill>
                <a:latin typeface="Arial"/>
              </a:rPr>
              <a:t>Timeline, replay và liên kết đến raw trace/VCD trong một viewer độc lập.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279392"/>
            <a:ext cx="420624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279392"/>
            <a:ext cx="82296" cy="1353312"/>
          </a:xfrm>
          <a:prstGeom prst="rect">
            <a:avLst/>
          </a:prstGeom>
          <a:solidFill>
            <a:srgbClr val="1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407407"/>
            <a:ext cx="3886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3A70"/>
                </a:solidFill>
                <a:latin typeface="Arial"/>
              </a:rPr>
              <a:t>Tái lập được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4791456"/>
            <a:ext cx="388620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1F2D3D"/>
                </a:solidFill>
                <a:latin typeface="Arial"/>
              </a:rPr>
              <a:t>Lưu command, log, trace, VCD và hướng dẫn từng bước.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4279392"/>
            <a:ext cx="420624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74920" y="4279392"/>
            <a:ext cx="82296" cy="1353312"/>
          </a:xfrm>
          <a:prstGeom prst="rect">
            <a:avLst/>
          </a:prstGeom>
          <a:solidFill>
            <a:srgbClr val="7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76088" y="4407407"/>
            <a:ext cx="3886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D5BA6"/>
                </a:solidFill>
                <a:latin typeface="Arial"/>
              </a:rPr>
              <a:t>Diễn giải đúng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6088" y="4791456"/>
            <a:ext cx="388620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1F2D3D"/>
                </a:solidFill>
                <a:latin typeface="Arial"/>
              </a:rPr>
              <a:t>Không đánh đồng mô hình kiến trúc với mô phỏng cycle-accurate.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Tổng quan kiến trúc PULP quan sát trong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KIẾN TRÚC VÀ PHƯƠNG PHÁP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4</a:t>
            </a:r>
          </a:p>
        </p:txBody>
      </p:sp>
      <p:pic>
        <p:nvPicPr>
          <p:cNvPr id="15" name="Picture 1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8732520" cy="419485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58368" y="1298448"/>
            <a:ext cx="2971800" cy="292608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CLUSTER: PE0…PE7 · TCDM · MCHAN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1298448"/>
            <a:ext cx="2926080" cy="292608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SoC: FC · L2 · UDMA · UART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70448"/>
            <a:ext cx="8458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bIns="73152"/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E6B78"/>
                </a:solidFill>
                <a:latin typeface="Arial"/>
              </a:rPr>
              <a:t>Sơ đồ được GVSoC tự sinh; slide phân tích sẽ chỉ theo các đường dữ liệu liên quan đến workload.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Vai trò của GVSoC, RTL và HTML 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KIẾN TRÚC VÀ PHƯƠNG PHÁP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051560"/>
            <a:ext cx="2788920" cy="4251960"/>
          </a:xfrm>
          <a:prstGeom prst="roundRect">
            <a:avLst/>
          </a:prstGeom>
          <a:solidFill>
            <a:srgbClr val="DDF3FA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051560"/>
            <a:ext cx="82296" cy="4251960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179576"/>
            <a:ext cx="24688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A6C8"/>
                </a:solidFill>
                <a:latin typeface="Arial"/>
              </a:rPr>
              <a:t>GVSoC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563624"/>
            <a:ext cx="2468879" cy="3630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D3D"/>
                </a:solidFill>
                <a:latin typeface="Arial"/>
              </a:rPr>
              <a:t>Mô hình kiến trúc nhanh
• Chạy software
• Sinh reference trace
• Kiểm tra chức năng sớm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1051560"/>
            <a:ext cx="2788920" cy="4251960"/>
          </a:xfrm>
          <a:prstGeom prst="roundRect">
            <a:avLst/>
          </a:prstGeom>
          <a:solidFill>
            <a:srgbClr val="E7F5EE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1051560"/>
            <a:ext cx="82296" cy="4251960"/>
          </a:xfrm>
          <a:prstGeom prst="rect">
            <a:avLst/>
          </a:prstGeom>
          <a:solidFill>
            <a:srgbClr val="27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7" y="1179576"/>
            <a:ext cx="24688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7845C"/>
                </a:solidFill>
                <a:latin typeface="Arial"/>
              </a:rPr>
              <a:t>RTL / Questa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1563624"/>
            <a:ext cx="2468879" cy="3630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D3D"/>
                </a:solidFill>
                <a:latin typeface="Arial"/>
              </a:rPr>
              <a:t>Mô phỏng hiện thực phần cứng
• Timing và handshake
• Clock/reset/event
• Waveform từng tín hiệu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051560"/>
            <a:ext cx="2788920" cy="4251960"/>
          </a:xfrm>
          <a:prstGeom prst="roundRect">
            <a:avLst/>
          </a:prstGeom>
          <a:solidFill>
            <a:srgbClr val="FFF3D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051560"/>
            <a:ext cx="82296" cy="4251960"/>
          </a:xfrm>
          <a:prstGeom prst="rect">
            <a:avLst/>
          </a:prstGeom>
          <a:solidFill>
            <a:srgbClr val="F2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1179576"/>
            <a:ext cx="24688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A63B"/>
                </a:solidFill>
                <a:latin typeface="Arial"/>
              </a:rPr>
              <a:t>HTML 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7" y="1563624"/>
            <a:ext cx="2468879" cy="3630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D3D"/>
                </a:solidFill>
                <a:latin typeface="Arial"/>
              </a:rPr>
              <a:t>Lớp tổng hợp và replay
• Hai timeline
• Instruction replay
• Liên kết raw trace/VCD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623560"/>
            <a:ext cx="8412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572"/>
                </a:solidFill>
                <a:latin typeface="Arial"/>
              </a:rPr>
              <a:t>GVSoC ≠ RTL  |  Viewer ≠ simulator  |  Waveform mới là bằng chứng về signal-level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Flow nghiên cứu tổng thể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KIẾN TRÚC VÀ PHƯƠNG PHÁP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170432"/>
            <a:ext cx="1325880" cy="621792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 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47088" y="1481328"/>
            <a:ext cx="91440" cy="0"/>
          </a:xfrm>
          <a:prstGeom prst="line">
            <a:avLst/>
          </a:prstGeom>
          <a:ln w="2032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029968" y="1170432"/>
            <a:ext cx="1325880" cy="621792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ELF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74136" y="1481328"/>
            <a:ext cx="228600" cy="0"/>
          </a:xfrm>
          <a:prstGeom prst="line">
            <a:avLst/>
          </a:prstGeom>
          <a:ln w="2032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94176" y="1170432"/>
            <a:ext cx="1325880" cy="621792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Hai 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38344" y="1481328"/>
            <a:ext cx="393192" cy="0"/>
          </a:xfrm>
          <a:prstGeom prst="line">
            <a:avLst/>
          </a:prstGeom>
          <a:ln w="2032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22976" y="1170432"/>
            <a:ext cx="1325880" cy="621792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Artifacts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67144" y="1481328"/>
            <a:ext cx="594360" cy="0"/>
          </a:xfrm>
          <a:prstGeom prst="line">
            <a:avLst/>
          </a:prstGeom>
          <a:ln w="2032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52944" y="1170432"/>
            <a:ext cx="1645920" cy="621792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Phân tích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084831"/>
            <a:ext cx="146304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E6B78"/>
                </a:solidFill>
                <a:latin typeface="Arial"/>
              </a:rPr>
              <a:t>Build + DWARF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93392" y="2523744"/>
            <a:ext cx="1417320" cy="438912"/>
          </a:xfrm>
          <a:prstGeom prst="roundRect">
            <a:avLst/>
          </a:prstGeom>
          <a:solidFill>
            <a:srgbClr val="DDF3FA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572"/>
                </a:solidFill>
                <a:latin typeface="Arial"/>
              </a:rPr>
              <a:t>SHA-256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97480" y="1828800"/>
            <a:ext cx="0" cy="640080"/>
          </a:xfrm>
          <a:prstGeom prst="line">
            <a:avLst/>
          </a:prstGeom>
          <a:ln w="2540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337560" y="2148840"/>
            <a:ext cx="233172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2148840"/>
            <a:ext cx="82296" cy="1115568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8" y="2276856"/>
            <a:ext cx="20116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A6C8"/>
                </a:solidFill>
                <a:latin typeface="Arial"/>
              </a:rPr>
              <a:t>GVSoC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2660904"/>
            <a:ext cx="2011679" cy="493775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D3D"/>
                </a:solidFill>
                <a:latin typeface="Arial"/>
              </a:rPr>
              <a:t>stdout + FC/PE instruction trace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3767328"/>
            <a:ext cx="233172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3767328"/>
            <a:ext cx="82296" cy="1115568"/>
          </a:xfrm>
          <a:prstGeom prst="rect">
            <a:avLst/>
          </a:prstGeom>
          <a:solidFill>
            <a:srgbClr val="27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8" y="3895344"/>
            <a:ext cx="20116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7845C"/>
                </a:solidFill>
                <a:latin typeface="Arial"/>
              </a:rPr>
              <a:t>RTL / Questa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8728" y="4279392"/>
            <a:ext cx="2011679" cy="493775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D3D"/>
                </a:solidFill>
                <a:latin typeface="Arial"/>
              </a:rPr>
              <a:t>transcript + trace + selected VCD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325112" y="1810512"/>
            <a:ext cx="0" cy="283464"/>
          </a:xfrm>
          <a:prstGeom prst="line">
            <a:avLst/>
          </a:prstGeom>
          <a:ln w="2540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25112" y="1810512"/>
            <a:ext cx="0" cy="1892808"/>
          </a:xfrm>
          <a:prstGeom prst="line">
            <a:avLst/>
          </a:prstGeom>
          <a:ln w="25400">
            <a:solidFill>
              <a:srgbClr val="278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46520" y="2788920"/>
            <a:ext cx="2331720" cy="18745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2788920"/>
            <a:ext cx="82296" cy="1874519"/>
          </a:xfrm>
          <a:prstGeom prst="rect">
            <a:avLst/>
          </a:prstGeom>
          <a:solidFill>
            <a:srgbClr val="F2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47688" y="2916936"/>
            <a:ext cx="20116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A63B"/>
                </a:solidFill>
                <a:latin typeface="Arial"/>
              </a:rPr>
              <a:t>Đối chiếu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3300984"/>
            <a:ext cx="2011679" cy="125272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Kết quả chức năng
Phase / event
Trace ↔ waveform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715000" y="2697480"/>
            <a:ext cx="685800" cy="640080"/>
          </a:xfrm>
          <a:prstGeom prst="line">
            <a:avLst/>
          </a:prstGeom>
          <a:ln w="25400">
            <a:solidFill>
              <a:srgbClr val="00A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715000" y="4023360"/>
            <a:ext cx="685800" cy="292608"/>
          </a:xfrm>
          <a:prstGeom prst="line">
            <a:avLst/>
          </a:prstGeom>
          <a:ln w="25400">
            <a:solidFill>
              <a:srgbClr val="278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14400" y="5715000"/>
            <a:ext cx="7955279" cy="438912"/>
          </a:xfrm>
          <a:prstGeom prst="roundRect">
            <a:avLst/>
          </a:prstGeom>
          <a:solidFill>
            <a:srgbClr val="FBE9E9"/>
          </a:solidFill>
          <a:ln w="12700">
            <a:solidFill>
              <a:srgbClr val="B6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50" b="1" i="0">
                <a:solidFill>
                  <a:srgbClr val="B63A3A"/>
                </a:solidFill>
                <a:latin typeface="Arial"/>
              </a:rPr>
              <a:t>Nguyên tắc: không build lại ELF giữa hai lượt chạy.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Nguyên tắc đối chiếu hai hệ thống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KIẾN TRÚC VÀ PHƯƠNG PHÁP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005840"/>
            <a:ext cx="566928" cy="566928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1024128"/>
            <a:ext cx="7589520" cy="53035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r>
              <a:rPr sz="1700" b="1">
                <a:solidFill>
                  <a:srgbClr val="000572"/>
                </a:solidFill>
                <a:latin typeface="Arial"/>
              </a:rPr>
              <a:t>Cùng ELF — </a:t>
            </a:r>
            <a:r>
              <a:rPr sz="1700" b="0">
                <a:solidFill>
                  <a:srgbClr val="1F2D3D"/>
                </a:solidFill>
                <a:latin typeface="Arial"/>
              </a:rPr>
              <a:t>Hash phải giống trước và sau hai lượt chạy.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993392"/>
            <a:ext cx="566928" cy="566928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2011680"/>
            <a:ext cx="7589520" cy="53035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r>
              <a:rPr sz="1700" b="1">
                <a:solidFill>
                  <a:srgbClr val="000572"/>
                </a:solidFill>
                <a:latin typeface="Arial"/>
              </a:rPr>
              <a:t>So chức năng trước — </a:t>
            </a:r>
            <a:r>
              <a:rPr sz="1700" b="0">
                <a:solidFill>
                  <a:srgbClr val="1F2D3D"/>
                </a:solidFill>
                <a:latin typeface="Arial"/>
              </a:rPr>
              <a:t>PASS/status/checksum/UART là điều kiện nghiệm thu.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80944"/>
            <a:ext cx="566928" cy="566928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2999232"/>
            <a:ext cx="7589520" cy="53035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r>
              <a:rPr sz="1700" b="1">
                <a:solidFill>
                  <a:srgbClr val="000572"/>
                </a:solidFill>
                <a:latin typeface="Arial"/>
              </a:rPr>
              <a:t>Không lockstep — </a:t>
            </a:r>
            <a:r>
              <a:rPr sz="1700" b="0">
                <a:solidFill>
                  <a:srgbClr val="1F2D3D"/>
                </a:solidFill>
                <a:latin typeface="Arial"/>
              </a:rPr>
              <a:t>GVSoC và RTL có mô hình timing/runtime khác nhau.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68496"/>
            <a:ext cx="566928" cy="566928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986783"/>
            <a:ext cx="7589520" cy="53035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r>
              <a:rPr sz="1700" b="1">
                <a:solidFill>
                  <a:srgbClr val="000572"/>
                </a:solidFill>
                <a:latin typeface="Arial"/>
              </a:rPr>
              <a:t>Đồng bộ theo phase — </a:t>
            </a:r>
            <a:r>
              <a:rPr sz="1700" b="0">
                <a:solidFill>
                  <a:srgbClr val="1F2D3D"/>
                </a:solidFill>
                <a:latin typeface="Arial"/>
              </a:rPr>
              <a:t>Dùng main, phase function, MMIO và event làm anchor.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56048"/>
            <a:ext cx="566928" cy="566928"/>
          </a:xfrm>
          <a:prstGeom prst="roundRect">
            <a:avLst/>
          </a:prstGeom>
          <a:solidFill>
            <a:srgbClr val="123A70"/>
          </a:solidFill>
          <a:ln w="12700">
            <a:solidFill>
              <a:srgbClr val="123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974336"/>
            <a:ext cx="7589520" cy="53035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r>
              <a:rPr sz="1700" b="1">
                <a:solidFill>
                  <a:srgbClr val="000572"/>
                </a:solidFill>
                <a:latin typeface="Arial"/>
              </a:rPr>
              <a:t>Trace + waveform — </a:t>
            </a:r>
            <a:r>
              <a:rPr sz="1700" b="0">
                <a:solidFill>
                  <a:srgbClr val="1F2D3D"/>
                </a:solidFill>
                <a:latin typeface="Arial"/>
              </a:rPr>
              <a:t>CPU trace không mô tả các beat DMA chạy tự trị.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806440"/>
            <a:ext cx="6126480" cy="384048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So sánh đúng câu hỏi ở đúng abstraction level.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Workload flow_demo: bảy giai đoạn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THỬ NGHIỆM 1 · FC + CLUSTER + DMA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078992"/>
            <a:ext cx="640080" cy="841248"/>
          </a:xfrm>
          <a:prstGeom prst="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1078992"/>
            <a:ext cx="1156062" cy="841248"/>
          </a:xfrm>
          <a:prstGeom prst="rect">
            <a:avLst/>
          </a:prstGeom>
          <a:solidFill>
            <a:srgbClr val="1769A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P0
FC + L2
FC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9062" y="1078992"/>
            <a:ext cx="1156062" cy="841248"/>
          </a:xfrm>
          <a:prstGeom prst="rect">
            <a:avLst/>
          </a:prstGeom>
          <a:solidFill>
            <a:srgbClr val="00A6C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P1
Timer + ALU
FC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5125" y="1078992"/>
            <a:ext cx="1156062" cy="841248"/>
          </a:xfrm>
          <a:prstGeom prst="rect">
            <a:avLst/>
          </a:prstGeom>
          <a:solidFill>
            <a:srgbClr val="2784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P2
Launch cluster
FC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1188" y="1078992"/>
            <a:ext cx="1156062" cy="841248"/>
          </a:xfrm>
          <a:prstGeom prst="rect">
            <a:avLst/>
          </a:prstGeom>
          <a:solidFill>
            <a:srgbClr val="F2A6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P3
8 PE ghi L1
PE0…7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7251" y="1078992"/>
            <a:ext cx="1156062" cy="84124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P4
Barrier
PE0…7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23314" y="1078992"/>
            <a:ext cx="1156062" cy="841248"/>
          </a:xfrm>
          <a:prstGeom prst="rect">
            <a:avLst/>
          </a:prstGeom>
          <a:solidFill>
            <a:srgbClr val="7D5B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P5
DMA round-trip
PE0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9377" y="1078992"/>
            <a:ext cx="1156062" cy="841248"/>
          </a:xfrm>
          <a:prstGeom prst="rect">
            <a:avLst/>
          </a:prstGeom>
          <a:solidFill>
            <a:srgbClr val="6677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P6
Summary
FC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2450592"/>
            <a:ext cx="1042415" cy="438912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2944368"/>
            <a:ext cx="1042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D3D"/>
                </a:solidFill>
                <a:latin typeface="Arial"/>
              </a:rPr>
              <a:t>checksum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63624" y="2761488"/>
            <a:ext cx="173736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755648" y="2450592"/>
            <a:ext cx="1042415" cy="438912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55648" y="2944368"/>
            <a:ext cx="1042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D3D"/>
                </a:solidFill>
                <a:latin typeface="Arial"/>
              </a:rPr>
              <a:t>timer + ALU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807208" y="2761488"/>
            <a:ext cx="173736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999232" y="2450592"/>
            <a:ext cx="1042415" cy="438912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CLUSTER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99232" y="2944368"/>
            <a:ext cx="1042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D3D"/>
                </a:solidFill>
                <a:latin typeface="Arial"/>
              </a:rPr>
              <a:t>fork 8 PE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50791" y="2761488"/>
            <a:ext cx="173737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42816" y="2450592"/>
            <a:ext cx="1042415" cy="438912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TCDM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42816" y="2944368"/>
            <a:ext cx="1042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D3D"/>
                </a:solidFill>
                <a:latin typeface="Arial"/>
              </a:rPr>
              <a:t>parallel write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94376" y="2761488"/>
            <a:ext cx="173736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86400" y="2450592"/>
            <a:ext cx="1042415" cy="438912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EVENT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2944368"/>
            <a:ext cx="1042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D3D"/>
                </a:solidFill>
                <a:latin typeface="Arial"/>
              </a:rPr>
              <a:t>barrier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37960" y="2761488"/>
            <a:ext cx="173736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729984" y="2450592"/>
            <a:ext cx="1042415" cy="438912"/>
          </a:xfrm>
          <a:prstGeom prst="roundRect">
            <a:avLst/>
          </a:prstGeom>
          <a:solidFill>
            <a:srgbClr val="123A70"/>
          </a:solidFill>
          <a:ln w="12700">
            <a:solidFill>
              <a:srgbClr val="123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MCHAN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9984" y="2944368"/>
            <a:ext cx="1042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D3D"/>
                </a:solidFill>
                <a:latin typeface="Arial"/>
              </a:rPr>
              <a:t>L2→L1→L2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81544" y="2761488"/>
            <a:ext cx="173736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973568" y="2450592"/>
            <a:ext cx="1042415" cy="438912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3568" y="2944368"/>
            <a:ext cx="1042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D3D"/>
                </a:solidFill>
                <a:latin typeface="Arial"/>
              </a:rPr>
              <a:t>verify PASS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160520"/>
            <a:ext cx="8275320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4160520"/>
            <a:ext cx="82296" cy="1188720"/>
          </a:xfrm>
          <a:prstGeom prst="rect">
            <a:avLst/>
          </a:prstGeom>
          <a:solidFill>
            <a:srgbClr val="F2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4288536"/>
            <a:ext cx="795528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A63B"/>
                </a:solidFill>
                <a:latin typeface="Arial"/>
              </a:rPr>
              <a:t>Vì sao chọn workload này?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4672583"/>
            <a:ext cx="795528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2D3D"/>
                </a:solidFill>
                <a:latin typeface="Arial"/>
              </a:rPr>
              <a:t>Một chương trình nhưng chạm đủ các lớp: software FC, hand-off cluster, song song 8 PE, TCDM, event/barrier và DMA tự trị.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5623560"/>
            <a:ext cx="7726679" cy="438912"/>
          </a:xfrm>
          <a:prstGeom prst="roundRect">
            <a:avLst/>
          </a:prstGeom>
          <a:solidFill>
            <a:srgbClr val="E7F5EE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27845C"/>
                </a:solidFill>
                <a:latin typeface="Arial"/>
              </a:rPr>
              <a:t>Kết quả chức năng: checksum và dữ liệu DMA khớp; FLOW|6|RESULT|PASS|errors=0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Kết quả flow_demo: trace, cycle và waveform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THỬ NGHIỆM 1 · FC + CLUSTER + DMA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987552"/>
            <a:ext cx="1920240" cy="43891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</a:rPr>
              <a:t>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9152" y="987552"/>
            <a:ext cx="960120" cy="43891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</a:rPr>
              <a:t>GVSoC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9272" y="987552"/>
            <a:ext cx="960120" cy="43891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</a:rPr>
              <a:t>RTL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987552"/>
            <a:ext cx="822960" cy="43891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rial"/>
              </a:rPr>
              <a:t>Tỷ lệ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1426464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D3D"/>
                </a:solidFill>
                <a:latin typeface="Arial"/>
              </a:rPr>
              <a:t>P0 · FC + L2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9152" y="1426464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12,224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9272" y="1426464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5,761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1426464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2.122×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1865376"/>
            <a:ext cx="192024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D3D"/>
                </a:solidFill>
                <a:latin typeface="Arial"/>
              </a:rPr>
              <a:t>P1 · Timer + ALU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9152" y="1865376"/>
            <a:ext cx="96012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15,598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9272" y="1865376"/>
            <a:ext cx="96012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7,143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1865376"/>
            <a:ext cx="82296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2.183×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23042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D3D"/>
                </a:solidFill>
                <a:latin typeface="Arial"/>
              </a:rPr>
              <a:t>P2 · Launch/wait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9152" y="2304288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191,663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2304288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175,519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9392" y="2304288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1.092×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2743200"/>
            <a:ext cx="192024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D3D"/>
                </a:solidFill>
                <a:latin typeface="Arial"/>
              </a:rPr>
              <a:t>P3 · 8 PE ghi L1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9152" y="2743200"/>
            <a:ext cx="96012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44,674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2743200"/>
            <a:ext cx="96012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43,317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9392" y="2743200"/>
            <a:ext cx="82296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1.031×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318211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D3D"/>
                </a:solidFill>
                <a:latin typeface="Arial"/>
              </a:rPr>
              <a:t>P4 · Barrier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9152" y="3182112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11,397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9272" y="3182112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10,991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79392" y="3182112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1.037×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3621024"/>
            <a:ext cx="192024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D3D"/>
                </a:solidFill>
                <a:latin typeface="Arial"/>
              </a:rPr>
              <a:t>P5 · DMA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59152" y="3621024"/>
            <a:ext cx="96012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20,025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3621024"/>
            <a:ext cx="96012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19,493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9392" y="3621024"/>
            <a:ext cx="82296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1.027×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4059935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D3D"/>
                </a:solidFill>
                <a:latin typeface="Arial"/>
              </a:rPr>
              <a:t>P6 · Summary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59152" y="4059935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11,989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4059935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5,559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9392" y="4059935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20" b="0" i="0">
                <a:solidFill>
                  <a:srgbClr val="1F2D3D"/>
                </a:solidFill>
                <a:latin typeface="Arial"/>
              </a:rPr>
              <a:t>2.157×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17720" y="987552"/>
            <a:ext cx="4645152" cy="4160520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F2A63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82312" y="1097280"/>
            <a:ext cx="4315968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63A3A"/>
                </a:solidFill>
                <a:latin typeface="Arial"/>
              </a:rPr>
              <a:t>ẢNH CẦN BỔ SUNG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82312" y="1371600"/>
            <a:ext cx="4315968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0572"/>
                </a:solidFill>
                <a:latin typeface="Arial"/>
              </a:rPr>
              <a:t>Waveform phase 5 — DMA tự trị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82312" y="1856232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E6B78"/>
                </a:solidFill>
                <a:latin typeface="Arial"/>
              </a:rPr>
              <a:t>Chạy: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82312" y="2084832"/>
            <a:ext cx="431596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82296" rIns="82296" tIns="82296" bIns="82296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D3D"/>
                </a:solidFill>
                <a:latin typeface="DejaVu Sans Mono"/>
              </a:rPr>
              <a:t>cd report/gvsoc_demo/rtl/wave
gtkwave flow_demo.gtkw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82312" y="4636008"/>
            <a:ext cx="4315968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E6B78"/>
                </a:solidFill>
                <a:latin typeface="Arial"/>
              </a:rPr>
              <a:t>Khung cần chụp: s_dmac_busy; TCDM req/gnt; AXI AR/R và AW/W handshake trong phase 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5440680"/>
            <a:ext cx="8458200" cy="530352"/>
          </a:xfrm>
          <a:prstGeom prst="roundRect">
            <a:avLst/>
          </a:prstGeom>
          <a:solidFill>
            <a:srgbClr val="DDF3FA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000572"/>
                </a:solidFill>
                <a:latin typeface="Arial"/>
              </a:rPr>
              <a:t>Trace thô: 207,451 lệnh  |  Viewer giữ 7,344 lệnh trọng tâm  |  VCD chọn lọc: 24 nhóm signal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007608"/>
            <a:ext cx="8458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E6B78"/>
                </a:solidFill>
                <a:latin typeface="Arial"/>
              </a:rPr>
              <a:t>Nhận xét: phần cluster gần nhau; phần FC có nhiều printf/runtime nên chênh khoảng 2.1×.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Hai workload UART ZCU104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THỬ NGHIỆM 2 · FC + UDMA UART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115568"/>
            <a:ext cx="4160520" cy="3886200"/>
          </a:xfrm>
          <a:prstGeom prst="roundRect">
            <a:avLst/>
          </a:prstGeom>
          <a:solidFill>
            <a:srgbClr val="DDF3FA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115568"/>
            <a:ext cx="82296" cy="3886200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243584"/>
            <a:ext cx="384048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A6C8"/>
                </a:solidFill>
                <a:latin typeface="Arial"/>
              </a:rPr>
              <a:t>zcu104_uart_smoke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627632"/>
            <a:ext cx="3840480" cy="32644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D3D"/>
                </a:solidFill>
                <a:latin typeface="Arial"/>
              </a:rPr>
              <a:t>main → printf → nhiều lớp formatted I/O
GVSoC FC: 5,397 lệnh
RTL FC: 35,405 lệnh
Kết quả: 23 byte đúng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1115568"/>
            <a:ext cx="4160520" cy="3886200"/>
          </a:xfrm>
          <a:prstGeom prst="roundRect">
            <a:avLst/>
          </a:prstGeom>
          <a:solidFill>
            <a:srgbClr val="E7F5EE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912" y="1115568"/>
            <a:ext cx="82296" cy="3886200"/>
          </a:xfrm>
          <a:prstGeom prst="rect">
            <a:avLst/>
          </a:prstGeom>
          <a:solidFill>
            <a:srgbClr val="27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243584"/>
            <a:ext cx="384048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7845C"/>
                </a:solidFill>
                <a:latin typeface="Arial"/>
              </a:rPr>
              <a:t>zcu104_uart_direct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27632"/>
            <a:ext cx="3840480" cy="32644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D3D"/>
                </a:solidFill>
                <a:latin typeface="Arial"/>
              </a:rPr>
              <a:t>main → uart_write(0, buffer, 23)
GVSoC FC: 4,634 lệnh
RTL FC: 22,957 lệnh
Kết quả: 23 byte đúng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5285232"/>
            <a:ext cx="6016752" cy="566928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DejaVu Sans Mono"/>
              </a:rPr>
              <a:t>Hello PULP from ZCU104\n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925312"/>
            <a:ext cx="7315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E6B78"/>
                </a:solidFill>
                <a:latin typeface="Arial"/>
              </a:rPr>
              <a:t>Cả hai chỉ dùng FC + L2 + UDMA UART; cluster/PE/TCDM/MCHAN không hoạt động.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Luồng zcu104_uart_direct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THỬ NGHIỆM 2 · FC + UDMA UART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1481328"/>
            <a:ext cx="1298448" cy="530352"/>
          </a:xfrm>
          <a:prstGeom prst="roundRect">
            <a:avLst/>
          </a:prstGeom>
          <a:solidFill>
            <a:srgbClr val="123A70"/>
          </a:solidFill>
          <a:ln w="12700">
            <a:solidFill>
              <a:srgbClr val="123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Runtime boot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057400"/>
            <a:ext cx="129844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_start / pos_init_start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1639" y="1828800"/>
            <a:ext cx="210313" cy="0"/>
          </a:xfrm>
          <a:prstGeom prst="line">
            <a:avLst/>
          </a:prstGeom>
          <a:ln w="1905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29384" y="1481328"/>
            <a:ext cx="1298448" cy="530352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uart_open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9384" y="2057400"/>
            <a:ext cx="129844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clock + setup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36976" y="1828800"/>
            <a:ext cx="210311" cy="0"/>
          </a:xfrm>
          <a:prstGeom prst="line">
            <a:avLst/>
          </a:prstGeom>
          <a:ln w="1905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74720" y="1481328"/>
            <a:ext cx="1298448" cy="530352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2057400"/>
            <a:ext cx="129844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buffer=0x1c000820
size=23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1828800"/>
            <a:ext cx="210312" cy="0"/>
          </a:xfrm>
          <a:prstGeom prst="line">
            <a:avLst/>
          </a:prstGeom>
          <a:ln w="1905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0056" y="1481328"/>
            <a:ext cx="1298448" cy="530352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UDMA TX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0056" y="2057400"/>
            <a:ext cx="129844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đọc L2 tự trị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27648" y="1828800"/>
            <a:ext cx="210312" cy="0"/>
          </a:xfrm>
          <a:prstGeom prst="line">
            <a:avLst/>
          </a:prstGeom>
          <a:ln w="1905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481328"/>
            <a:ext cx="1298448" cy="530352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UART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2057400"/>
            <a:ext cx="129844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serialize 23 byte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72983" y="1828800"/>
            <a:ext cx="210313" cy="0"/>
          </a:xfrm>
          <a:prstGeom prst="line">
            <a:avLst/>
          </a:prstGeom>
          <a:ln w="1905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10727" y="1481328"/>
            <a:ext cx="1298448" cy="530352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exit(0)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0727" y="2057400"/>
            <a:ext cx="129844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status=0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182112"/>
            <a:ext cx="4041648" cy="347472"/>
          </a:xfrm>
          <a:prstGeom prst="roundRect">
            <a:avLst/>
          </a:prstGeom>
          <a:solidFill>
            <a:srgbClr val="DDF3FA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769AA"/>
                </a:solidFill>
                <a:latin typeface="Arial"/>
              </a:rPr>
              <a:t>CPU chủ động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81728" y="3182112"/>
            <a:ext cx="2907792" cy="347472"/>
          </a:xfrm>
          <a:prstGeom prst="roundRect">
            <a:avLst/>
          </a:prstGeom>
          <a:solidFill>
            <a:srgbClr val="E7F5EE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7845C"/>
                </a:solidFill>
                <a:latin typeface="Arial"/>
              </a:rPr>
              <a:t>Phần cứng tự trị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3182112"/>
            <a:ext cx="1499616" cy="347472"/>
          </a:xfrm>
          <a:prstGeom prst="roundRect">
            <a:avLst/>
          </a:prstGeom>
          <a:solidFill>
            <a:srgbClr val="E8EDF3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0572"/>
                </a:solidFill>
                <a:latin typeface="Arial"/>
              </a:rPr>
              <a:t>CPU tiếp tục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041648"/>
            <a:ext cx="832104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4041648"/>
            <a:ext cx="82296" cy="1234440"/>
          </a:xfrm>
          <a:prstGeom prst="rect">
            <a:avLst/>
          </a:prstGeom>
          <a:solidFill>
            <a:srgbClr val="F2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4169663"/>
            <a:ext cx="80010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A63B"/>
                </a:solidFill>
                <a:latin typeface="Arial"/>
              </a:rPr>
              <a:t>Điểm cần quan sát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4553712"/>
            <a:ext cx="8001000" cy="6126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2D3D"/>
                </a:solidFill>
                <a:latin typeface="Arial"/>
              </a:rPr>
              <a:t>Instruction trace chỉ cho thấy CPU ghi cấu hình và poll. Các byte được UDMA đọc từ L2 và UART dịch nối tiếp phải được xác nhận bằng waveform RTL.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623560"/>
            <a:ext cx="7955279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000572"/>
                </a:solidFill>
                <a:latin typeface="Arial"/>
              </a:rPr>
              <a:t>Đây là chuỗi diễn giải xuyên suốt: instruction → MMIO → autonomous hardware → event/status → instruction.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Bằng chứng instruction trace và MMIO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THỬ NGHIỆM 2 · FC + UDMA UART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097280"/>
            <a:ext cx="1417320" cy="57607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Sự kiện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097280"/>
            <a:ext cx="1691640" cy="57607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Địa chỉ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097280"/>
            <a:ext cx="1691640" cy="57607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Giá trị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097280"/>
            <a:ext cx="3886200" cy="57607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Ý nghĩa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673352"/>
            <a:ext cx="14173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UART 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1673352"/>
            <a:ext cx="16916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0x1a1020a4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1673352"/>
            <a:ext cx="16916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0x00560306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1673352"/>
            <a:ext cx="38862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bật/cấu hình UART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249424"/>
            <a:ext cx="1417320" cy="57607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TX address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249424"/>
            <a:ext cx="1691640" cy="57607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0x1a102090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2249424"/>
            <a:ext cx="1691640" cy="57607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0x1c000820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249424"/>
            <a:ext cx="3886200" cy="57607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buffer 23 byte tại L2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825496"/>
            <a:ext cx="14173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TX size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2825496"/>
            <a:ext cx="16916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0x1a102094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2825496"/>
            <a:ext cx="16916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0x00000017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825496"/>
            <a:ext cx="38862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khởi động transfer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401568"/>
            <a:ext cx="1417320" cy="57607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SoC exit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3401568"/>
            <a:ext cx="1691640" cy="57607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0x1a1040a0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3401568"/>
            <a:ext cx="1691640" cy="57607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0x80000000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01568"/>
            <a:ext cx="3886200" cy="57607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exit(0) / status PASS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315968"/>
            <a:ext cx="960120" cy="54864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CPU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48840" y="4315968"/>
            <a:ext cx="2057400" cy="548640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MMIO / interconnect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4315968"/>
            <a:ext cx="1691640" cy="548640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UDMA UART TX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39712" y="4315968"/>
            <a:ext cx="1325880" cy="548640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UART pad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691640" y="4590288"/>
            <a:ext cx="411480" cy="0"/>
          </a:xfrm>
          <a:prstGeom prst="line">
            <a:avLst/>
          </a:prstGeom>
          <a:ln w="2540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224528" y="4590288"/>
            <a:ext cx="393192" cy="0"/>
          </a:xfrm>
          <a:prstGeom prst="line">
            <a:avLst/>
          </a:prstGeom>
          <a:ln w="2540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382512" y="4590288"/>
            <a:ext cx="411480" cy="0"/>
          </a:xfrm>
          <a:prstGeom prst="line">
            <a:avLst/>
          </a:prstGeom>
          <a:ln w="2540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675887" y="5148072"/>
            <a:ext cx="2377440" cy="384048"/>
          </a:xfrm>
          <a:prstGeom prst="roundRect">
            <a:avLst/>
          </a:prstGeom>
          <a:solidFill>
            <a:srgbClr val="DDF3FA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0572"/>
                </a:solidFill>
                <a:latin typeface="Arial"/>
              </a:rPr>
              <a:t>23 bytes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742432"/>
            <a:ext cx="7452360" cy="42062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5E6B78"/>
                </a:solidFill>
                <a:latin typeface="Arial"/>
              </a:rPr>
              <a:t>Trace xác nhận lệnh ghi; waveform xác nhận request/handshake và serial bitstream.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Đối chiếu GVSoC và RTL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KẾT QUẢ VÀ DIỄN GIẢI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987552"/>
            <a:ext cx="4572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0572"/>
                </a:solidFill>
                <a:latin typeface="Arial"/>
              </a:rPr>
              <a:t>zcu104_uart_direct — timeline từ _start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481328"/>
            <a:ext cx="713232" cy="43891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GVSoC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1481328"/>
            <a:ext cx="1770013" cy="438912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295.187 µs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176272"/>
            <a:ext cx="713232" cy="438912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RTL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176272"/>
            <a:ext cx="6995160" cy="438912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1166.590 µs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2761488"/>
            <a:ext cx="70408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E6B78"/>
                </a:solidFill>
                <a:latin typeface="Arial"/>
              </a:rPr>
              <a:t>Cùng thang thời gian tuyệt đối; GVSoC chiếm 25.3% độ dài RTL.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1568"/>
            <a:ext cx="2148840" cy="43891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7208" y="3401568"/>
            <a:ext cx="2926080" cy="43891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GVSoC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33288" y="3401568"/>
            <a:ext cx="2926080" cy="438912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RTL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840480"/>
            <a:ext cx="2148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D3D"/>
                </a:solidFill>
                <a:latin typeface="Arial"/>
              </a:rPr>
              <a:t>ELF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07208" y="3840480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cùng SHA-256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33288" y="3840480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cùng SHA-256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79392"/>
            <a:ext cx="214884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D3D"/>
                </a:solidFill>
                <a:latin typeface="Arial"/>
              </a:rPr>
              <a:t>UART 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07208" y="4279392"/>
            <a:ext cx="292608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23 byte đúng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33288" y="4279392"/>
            <a:ext cx="292608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23 byte đúng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18304"/>
            <a:ext cx="2148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D3D"/>
                </a:solidFill>
                <a:latin typeface="Arial"/>
              </a:rPr>
              <a:t>FC instruction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07208" y="471830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4,634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33288" y="471830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22,957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157216"/>
            <a:ext cx="214884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D3D"/>
                </a:solidFill>
                <a:latin typeface="Arial"/>
              </a:rPr>
              <a:t>Cluster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7208" y="5157216"/>
            <a:ext cx="292608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không chạy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33288" y="5157216"/>
            <a:ext cx="2926080" cy="438912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không chạy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596128"/>
            <a:ext cx="2148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D3D"/>
                </a:solidFill>
                <a:latin typeface="Arial"/>
              </a:rPr>
              <a:t>Mức timing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07208" y="559612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model kiến trúc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33288" y="559612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2D3D"/>
                </a:solidFill>
                <a:latin typeface="Arial"/>
              </a:rPr>
              <a:t>signal/cycle RTL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560" y="5879592"/>
            <a:ext cx="7635240" cy="420624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Kết luận: đồng nhất chức năng, không đồng nhất số lệnh hoặc cycle.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HTML Flow Viewer đã xây dựng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TRỰC QUAN HÓA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960120"/>
            <a:ext cx="5715000" cy="5166360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F2A63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1069848"/>
            <a:ext cx="5385816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63A3A"/>
                </a:solidFill>
                <a:latin typeface="Arial"/>
              </a:rPr>
              <a:t>ẢNH CẦN BỔ SUNG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1344168"/>
            <a:ext cx="5385816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0572"/>
                </a:solidFill>
                <a:latin typeface="Arial"/>
              </a:rPr>
              <a:t>Ảnh giao diện viewer — timeline + replay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1828800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E6B78"/>
                </a:solidFill>
                <a:latin typeface="Arial"/>
              </a:rPr>
              <a:t>Chạy: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2057400"/>
            <a:ext cx="53858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82296" rIns="82296" tIns="82296" bIns="82296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D3D"/>
                </a:solidFill>
                <a:latin typeface="DejaVu Sans Mono"/>
              </a:rPr>
              <a:t>firefox report/zcu104_uart_direct/flow_viewer.html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614416"/>
            <a:ext cx="5385816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E6B78"/>
                </a:solidFill>
                <a:latin typeface="Arial"/>
              </a:rPr>
              <a:t>Khung cần chụp: thanh thống kê, hai lane GVSoC/RTL, nút Play và 8–12 dòng instruction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960120"/>
            <a:ext cx="2788920" cy="2286000"/>
          </a:xfrm>
          <a:prstGeom prst="roundRect">
            <a:avLst/>
          </a:prstGeom>
          <a:solidFill>
            <a:srgbClr val="E7F5EE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960120"/>
            <a:ext cx="82296" cy="2286000"/>
          </a:xfrm>
          <a:prstGeom prst="rect">
            <a:avLst/>
          </a:prstGeom>
          <a:solidFill>
            <a:srgbClr val="27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088136"/>
            <a:ext cx="24688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7845C"/>
                </a:solidFill>
                <a:latin typeface="Arial"/>
              </a:rPr>
              <a:t>Viewer làm được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1472184"/>
            <a:ext cx="2468879" cy="166420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D3D"/>
                </a:solidFill>
                <a:latin typeface="Arial"/>
              </a:rPr>
              <a:t>• Hiển thị hai timeline
• Replay instruction
• Đồng bộ theo phase
• Chọn tốc độ Play
• Mở raw trace và VCD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474720"/>
            <a:ext cx="2788920" cy="2084831"/>
          </a:xfrm>
          <a:prstGeom prst="roundRect">
            <a:avLst/>
          </a:prstGeom>
          <a:solidFill>
            <a:srgbClr val="FBE9E9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474720"/>
            <a:ext cx="82296" cy="2084831"/>
          </a:xfrm>
          <a:prstGeom prst="rect">
            <a:avLst/>
          </a:prstGeom>
          <a:solidFill>
            <a:srgbClr val="B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3602736"/>
            <a:ext cx="24688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63A3A"/>
                </a:solidFill>
                <a:latin typeface="Arial"/>
              </a:rPr>
              <a:t>Viewer không làm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986783"/>
            <a:ext cx="2468879" cy="146303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D3D"/>
                </a:solidFill>
                <a:latin typeface="Arial"/>
              </a:rPr>
              <a:t>• Không chạy GVSoC/RTL
• Không chứng minh signal
• Không đồng bộ lockstep
• Không thay thế GTKWave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5797296"/>
            <a:ext cx="3017520" cy="438912"/>
          </a:xfrm>
          <a:prstGeom prst="roundRect">
            <a:avLst/>
          </a:prstGeom>
          <a:solidFill>
            <a:srgbClr val="DDF3FA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00572"/>
                </a:solidFill>
                <a:latin typeface="Arial"/>
              </a:rPr>
              <a:t>Vai trò đúng: cầu nối giữa software trace, simulation time và artifact RTL.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Cách đọc trace cùng waveform RTL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TRỰC QUAN HÓA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1051560"/>
            <a:ext cx="438912" cy="438912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27632"/>
            <a:ext cx="143560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69AA"/>
                </a:solidFill>
                <a:latin typeface="Arial"/>
              </a:rPr>
              <a:t>Instruction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03704"/>
            <a:ext cx="1435608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CPU đang làm gì?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11095" y="1883664"/>
            <a:ext cx="365761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98064" y="1051560"/>
            <a:ext cx="438912" cy="438912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04288" y="1627632"/>
            <a:ext cx="143560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A6C8"/>
                </a:solidFill>
                <a:latin typeface="Arial"/>
              </a:rPr>
              <a:t>MMIO /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04288" y="2203704"/>
            <a:ext cx="1435608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địa chỉ + giá trị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58184" y="1883664"/>
            <a:ext cx="365760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45152" y="1051560"/>
            <a:ext cx="438912" cy="438912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51376" y="1627632"/>
            <a:ext cx="143560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7845C"/>
                </a:solidFill>
                <a:latin typeface="Arial"/>
              </a:rPr>
              <a:t>HW tự trị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51376" y="2203704"/>
            <a:ext cx="1435608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UDMA / DMA / UART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05272" y="1883664"/>
            <a:ext cx="365760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92240" y="1051560"/>
            <a:ext cx="438912" cy="438912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98464" y="1627632"/>
            <a:ext cx="143560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A63B"/>
                </a:solidFill>
                <a:latin typeface="Arial"/>
              </a:rPr>
              <a:t>Status / event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8464" y="2203704"/>
            <a:ext cx="1435608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busy, irq, wakeup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52360" y="1883664"/>
            <a:ext cx="365760" cy="0"/>
          </a:xfrm>
          <a:prstGeom prst="line">
            <a:avLst/>
          </a:prstGeom>
          <a:ln w="17780">
            <a:solidFill>
              <a:srgbClr val="AAB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39328" y="1051560"/>
            <a:ext cx="438912" cy="438912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45552" y="1627632"/>
            <a:ext cx="143560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0572"/>
                </a:solidFill>
                <a:latin typeface="Arial"/>
              </a:rPr>
              <a:t>Instruction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5552" y="2203704"/>
            <a:ext cx="1435608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D3D"/>
                </a:solidFill>
                <a:latin typeface="Arial"/>
              </a:rPr>
              <a:t>CPU tiếp tục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246120"/>
            <a:ext cx="4297680" cy="2514600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F2A63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3355848"/>
            <a:ext cx="3968496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63A3A"/>
                </a:solidFill>
                <a:latin typeface="Arial"/>
              </a:rPr>
              <a:t>ẢNH CẦN BỔ SUNG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" y="3630168"/>
            <a:ext cx="3968496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0572"/>
                </a:solidFill>
                <a:latin typeface="Arial"/>
              </a:rPr>
              <a:t>Waveform UART — nối transaction với bitstream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" y="4114800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E6B78"/>
                </a:solidFill>
                <a:latin typeface="Arial"/>
              </a:rPr>
              <a:t>Chạy: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1" y="4343400"/>
            <a:ext cx="3968496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82296" rIns="82296" tIns="82296" bIns="82296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D3D"/>
                </a:solidFill>
                <a:latin typeface="DejaVu Sans Mono"/>
              </a:rPr>
              <a:t>cd report/zcu104_uart_direct/rtl/wave
gtkwave zcu104_uart_direct.gtkw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5248656"/>
            <a:ext cx="3968496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E6B78"/>
                </a:solidFill>
                <a:latin typeface="Arial"/>
              </a:rPr>
              <a:t>Khung cần chụp: w_uart_rx; FC fetch; reset; exit_status; zoom đủ một ký tự UART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30368" y="3246120"/>
            <a:ext cx="3840480" cy="2514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30368" y="3246120"/>
            <a:ext cx="82296" cy="2514600"/>
          </a:xfrm>
          <a:prstGeom prst="rect">
            <a:avLst/>
          </a:prstGeom>
          <a:solidFill>
            <a:srgbClr val="1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31536" y="3374136"/>
            <a:ext cx="352044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3A70"/>
                </a:solidFill>
                <a:latin typeface="Arial"/>
              </a:rPr>
              <a:t>Cách thuyết trình một sự kiện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1536" y="3758183"/>
            <a:ext cx="3520440" cy="189280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① Chỉ PC/hàm trong trace
② Chỉ write MMIO tương ứng
③ Highlight khối trên kiến trúc
④ Chỉ handshake/signal trên wave
⑤ Kết luận bằng output/status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25312"/>
            <a:ext cx="8229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63A3A"/>
                </a:solidFill>
                <a:latin typeface="Arial"/>
              </a:rPr>
              <a:t>Không nói “lệnh chạy qua mọi khối”; nói “lệnh cấu hình khối, sau đó phần cứng tự hoạt động”.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Vấn đề gặp phải và cách xử lý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BÀI HỌC KỸ THUẬT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024128"/>
            <a:ext cx="2834640" cy="65836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220" b="1" i="0">
                <a:solidFill>
                  <a:srgbClr val="FFFFFF"/>
                </a:solidFill>
                <a:latin typeface="Arial"/>
              </a:rPr>
              <a:t>Hiện tượng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024128"/>
            <a:ext cx="2788920" cy="65836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220" b="1" i="0">
                <a:solidFill>
                  <a:srgbClr val="FFFFFF"/>
                </a:solidFill>
                <a:latin typeface="Arial"/>
              </a:rPr>
              <a:t>Nguyên nhân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024128"/>
            <a:ext cx="3246120" cy="65836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220" b="1" i="0">
                <a:solidFill>
                  <a:srgbClr val="FFFFFF"/>
                </a:solidFill>
                <a:latin typeface="Arial"/>
              </a:rPr>
              <a:t>Cách xử lý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682496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F2D3D"/>
                </a:solidFill>
                <a:latin typeface="Arial"/>
              </a:rPr>
              <a:t>UART GVSoC ra byte nhiễu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682496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checker mặc định 115200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682496"/>
            <a:ext cx="3246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đặt 825000 baud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40864"/>
            <a:ext cx="283464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F2D3D"/>
                </a:solidFill>
                <a:latin typeface="Arial"/>
              </a:rPr>
              <a:t>RTL log toàn warning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340864"/>
            <a:ext cx="278892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transcript Questa rất dài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340864"/>
            <a:ext cx="324612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lọc result; giữ full log riêng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99232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F2D3D"/>
                </a:solidFill>
                <a:latin typeface="Arial"/>
              </a:rPr>
              <a:t>ELF ngoài không có phase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99232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không có phaseN_* symbol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999232"/>
            <a:ext cx="3246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suy luận _start/main/exit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283464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F2D3D"/>
                </a:solidFill>
                <a:latin typeface="Arial"/>
              </a:rPr>
              <a:t>Hai timeline khác độ dài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657600"/>
            <a:ext cx="278892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timing model khác nhau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657600"/>
            <a:ext cx="324612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cùng thang tuyệt đối + phase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1596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F2D3D"/>
                </a:solidFill>
                <a:latin typeface="Arial"/>
              </a:rPr>
              <a:t>Play kéo trang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315968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scrollIntoView()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315968"/>
            <a:ext cx="3246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chỉ scroll trong trace panel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74336"/>
            <a:ext cx="283464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F2D3D"/>
                </a:solidFill>
                <a:latin typeface="Arial"/>
              </a:rPr>
              <a:t>Trace không thấy DMA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4974336"/>
            <a:ext cx="278892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hardware hoạt động tự trị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974336"/>
            <a:ext cx="324612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F2D3D"/>
                </a:solidFill>
                <a:latin typeface="Arial"/>
              </a:rPr>
              <a:t>đọc thêm VCD handshake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321808"/>
            <a:ext cx="8183879" cy="530352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Bài học chung: một log đơn lẻ hiếm khi đủ — cần chuỗi bằng chứng nhiều lớp.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961888"/>
            <a:ext cx="73609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5E6B78"/>
                </a:solidFill>
                <a:latin typeface="Arial"/>
              </a:rPr>
              <a:t>Ba lớp kiểm tra: functional output · architectural trace · RTL signal behavior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Kết luận và hướng phát triển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KẾT LUẬN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6446520"/>
            <a:ext cx="25603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E6B78"/>
                </a:solidFill>
                <a:latin typeface="Arial"/>
              </a:rPr>
              <a:t>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1005840"/>
            <a:ext cx="4206240" cy="4279392"/>
          </a:xfrm>
          <a:prstGeom prst="roundRect">
            <a:avLst/>
          </a:prstGeom>
          <a:solidFill>
            <a:srgbClr val="E7F5EE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1005840"/>
            <a:ext cx="82296" cy="4279392"/>
          </a:xfrm>
          <a:prstGeom prst="rect">
            <a:avLst/>
          </a:prstGeom>
          <a:solidFill>
            <a:srgbClr val="27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1133856"/>
            <a:ext cx="3886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7845C"/>
                </a:solidFill>
                <a:latin typeface="Arial"/>
              </a:rPr>
              <a:t>Đã hoàn thành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1517904"/>
            <a:ext cx="3886200" cy="365759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D3D"/>
                </a:solidFill>
                <a:latin typeface="Arial"/>
              </a:rPr>
              <a:t>✓ Một ELF chạy trên GVSoC và RTL
✓ Kết quả chức năng được xác minh
✓ Có instruction trace + VCD
✓ Có viewer và tài liệu tái lập
✓ Có ba workload bổ trợ nhau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1005840"/>
            <a:ext cx="4206240" cy="4279392"/>
          </a:xfrm>
          <a:prstGeom prst="roundRect">
            <a:avLst/>
          </a:prstGeom>
          <a:solidFill>
            <a:srgbClr val="FFF3DF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912" y="1005840"/>
            <a:ext cx="82296" cy="4279392"/>
          </a:xfrm>
          <a:prstGeom prst="rect">
            <a:avLst/>
          </a:prstGeom>
          <a:solidFill>
            <a:srgbClr val="F2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133856"/>
            <a:ext cx="388620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A63B"/>
                </a:solidFill>
                <a:latin typeface="Arial"/>
              </a:rPr>
              <a:t>Tiếp theo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517904"/>
            <a:ext cx="3886200" cy="365759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F2D3D"/>
                </a:solidFill>
                <a:latin typeface="Arial"/>
              </a:rPr>
              <a:t>1. Bổ sung signal UDMA/interconnect
2. Chụp waveform theo sự kiện
3. Animate đường dữ liệu trên kiến trúc
4. Tự động hóa nhập ELF mới
5. Đóng gói demo cho báo cáo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596128"/>
            <a:ext cx="8394192" cy="566928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GVSoC cho reference kiến trúc nhanh; RTL cho bằng chứng hiện thực; viewer giúp nối hai góc nhìn.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Phụ lục A — Các lệnh tái lập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446520"/>
            <a:ext cx="10058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E6B78"/>
                </a:solidFill>
                <a:latin typeface="Arial"/>
              </a:rPr>
              <a:t>BACKUP · 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005840"/>
            <a:ext cx="1097280" cy="292608"/>
          </a:xfrm>
          <a:prstGeom prst="roundRect">
            <a:avLst/>
          </a:prstGeom>
          <a:solidFill>
            <a:srgbClr val="00A6C8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GVSoC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1005840"/>
            <a:ext cx="7424927" cy="12344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D3D"/>
                </a:solidFill>
                <a:latin typeface="DejaVu Sans Mono"/>
              </a:rPr>
              <a:t>source sw/gvsoc/env.sh
gvsoc --target=pulp-open --binary=&lt;ELF&gt; \
+  --trace=chip/soc/fc/insn:fc.log 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24328"/>
            <a:ext cx="1097280" cy="292608"/>
          </a:xfrm>
          <a:prstGeom prst="roundRect">
            <a:avLst/>
          </a:prstGeom>
          <a:solidFill>
            <a:srgbClr val="27845C"/>
          </a:solidFill>
          <a:ln w="12700">
            <a:solidFill>
              <a:srgbClr val="2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RTL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2624328"/>
            <a:ext cx="7424927" cy="12344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D3D"/>
                </a:solidFill>
                <a:latin typeface="DejaVu Sans Mono"/>
              </a:rPr>
              <a:t>APP_DIR="$PWD/sw/flow_demo" SIM_TIMEOUT="80 ms" \
+  PULP_RISCV_GCC_TOOLCHAIN=/opt/pulp-toolchain \
+  sw/full_system/run_sim.sh all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42816"/>
            <a:ext cx="1097280" cy="292608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4242816"/>
            <a:ext cx="7424927" cy="12344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D3D"/>
                </a:solidFill>
                <a:latin typeface="DejaVu Sans Mono"/>
              </a:rPr>
              <a:t>/usr/bin/python3 sw/flow_demo/flow_visualize.py \
+  --elf &lt;ELF&gt; --gvsoc-fc &lt;fc.log&gt; --rtl-dir &lt;raw&gt; \
+  --output &lt;flow_viewer.html&gt;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916168"/>
            <a:ext cx="781812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0572"/>
                </a:solidFill>
                <a:latin typeface="Arial"/>
              </a:rPr>
              <a:t>Chi tiết đầy đủ: report/gvsoc_demo/HUONG_DAN_TUNG_BUOC.md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Phụ lục B — Artifact bàn giao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446520"/>
            <a:ext cx="10058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E6B78"/>
                </a:solidFill>
                <a:latin typeface="Arial"/>
              </a:rPr>
              <a:t>BACKUP · 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051560"/>
            <a:ext cx="1554480" cy="65836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Nhóm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1051560"/>
            <a:ext cx="4663440" cy="65836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Đường dẫn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051560"/>
            <a:ext cx="2743200" cy="65836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Nội dung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709928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D3D"/>
                </a:solidFill>
                <a:latin typeface="Arial"/>
              </a:rPr>
              <a:t>flow_demo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1709928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report/gvsoc_demo/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70992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viewer, log, trace, VCD, docs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368296"/>
            <a:ext cx="155448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D3D"/>
                </a:solidFill>
                <a:latin typeface="Arial"/>
              </a:rPr>
              <a:t>UART smoke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2368296"/>
            <a:ext cx="466344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report/zcu104_uart_smoke/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2368296"/>
            <a:ext cx="274320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ELF snapshot, viewer, UART/VCD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026663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D3D"/>
                </a:solidFill>
                <a:latin typeface="Arial"/>
              </a:rPr>
              <a:t>UART direct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3026663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report/zcu104_uart_direct/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3026663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ELF snapshot, viewer, UART/VCD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685031"/>
            <a:ext cx="155448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D3D"/>
                </a:solidFill>
                <a:latin typeface="Arial"/>
              </a:rPr>
              <a:t>Phương pháp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3685031"/>
            <a:ext cx="466344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report/GVSOC_RTL_VISUAL_ANALYSIS_APPROACH.md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3685031"/>
            <a:ext cx="274320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storyboard + signal 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343399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D3D"/>
                </a:solidFill>
                <a:latin typeface="Arial"/>
              </a:rPr>
              <a:t>Kiểm tra UART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4343399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report/ZCU104_UART_RECHECK.md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4343399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baud, status, integrity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001767"/>
            <a:ext cx="155448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D3D"/>
                </a:solidFill>
                <a:latin typeface="Arial"/>
              </a:rPr>
              <a:t>Báo cáo DOCX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5960" y="5001767"/>
            <a:ext cx="466344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doc/gvsoc_demo/research/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5001767"/>
            <a:ext cx="274320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2D3D"/>
                </a:solidFill>
                <a:latin typeface="Arial"/>
              </a:rPr>
              <a:t>tài liệu nghiên cứu đầy đủ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50992"/>
            <a:ext cx="8321040" cy="502920"/>
          </a:xfrm>
          <a:prstGeom prst="roundRect">
            <a:avLst/>
          </a:prstGeom>
          <a:solidFill>
            <a:srgbClr val="000572"/>
          </a:solidFill>
          <a:ln w="12700">
            <a:solidFill>
              <a:srgbClr val="000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Mỗi report giữ raw artifact; viewer chỉ là lớp đọc/lọc, không thay đổi dữ liệu gốc.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Phụ lục C — Danh tính ELF và kết quả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446520"/>
            <a:ext cx="10058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E6B78"/>
                </a:solidFill>
                <a:latin typeface="Arial"/>
              </a:rPr>
              <a:t>BACKUP · 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143000"/>
            <a:ext cx="2468880" cy="74980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ELF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1143000"/>
            <a:ext cx="2377440" cy="74980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SHA-256 rút gọn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13248" y="1143000"/>
            <a:ext cx="4251960" cy="74980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Kết quả hai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92807"/>
            <a:ext cx="2468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D3D"/>
                </a:solidFill>
                <a:latin typeface="Arial"/>
              </a:rPr>
              <a:t>flow_demo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5808" y="1892807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7fff5157…c39a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3248" y="1892807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PASS; checksum/DMA khớp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642615"/>
            <a:ext cx="2468880" cy="74980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D3D"/>
                </a:solidFill>
                <a:latin typeface="Arial"/>
              </a:rPr>
              <a:t>zcu104_uart_smoke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35808" y="2642615"/>
            <a:ext cx="2377440" cy="74980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40d9d50a…e6da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3248" y="2642615"/>
            <a:ext cx="4251960" cy="74980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exit(0); UART 23 byte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92423"/>
            <a:ext cx="2468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D3D"/>
                </a:solidFill>
                <a:latin typeface="Arial"/>
              </a:rPr>
              <a:t>zcu104_uart_direct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35808" y="3392423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13f7b410…2ed3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3248" y="3392423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exit(0); UART 23 byte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069080"/>
            <a:ext cx="3931920" cy="1645920"/>
          </a:xfrm>
          <a:prstGeom prst="roundRect">
            <a:avLst/>
          </a:prstGeom>
          <a:solidFill>
            <a:srgbClr val="E7F5EE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069080"/>
            <a:ext cx="82296" cy="1645920"/>
          </a:xfrm>
          <a:prstGeom prst="rect">
            <a:avLst/>
          </a:prstGeom>
          <a:solidFill>
            <a:srgbClr val="27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197096"/>
            <a:ext cx="3611879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7845C"/>
                </a:solidFill>
                <a:latin typeface="Arial"/>
              </a:rPr>
              <a:t>Điều kiện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581144"/>
            <a:ext cx="3611879" cy="10241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• Process/runner exit code 0
• Marker hoặc status testbench đúng
• Output/checksum khớp
• Trace/VCD tồn tại và parse được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4069080"/>
            <a:ext cx="4160520" cy="1645920"/>
          </a:xfrm>
          <a:prstGeom prst="roundRect">
            <a:avLst/>
          </a:prstGeom>
          <a:solidFill>
            <a:srgbClr val="FBE9E9"/>
          </a:solidFill>
          <a:ln w="1397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4069080"/>
            <a:ext cx="82296" cy="1645920"/>
          </a:xfrm>
          <a:prstGeom prst="rect">
            <a:avLst/>
          </a:prstGeom>
          <a:solidFill>
            <a:srgbClr val="B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93207" y="4197096"/>
            <a:ext cx="384048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63A3A"/>
                </a:solidFill>
                <a:latin typeface="Arial"/>
              </a:rPr>
              <a:t>Không dùng làm tiêu chí duy nhất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7" y="4581144"/>
            <a:ext cx="3840480" cy="10241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3D"/>
                </a:solidFill>
                <a:latin typeface="Arial"/>
              </a:rPr>
              <a:t>• Dòng Errors cuối transcript
• Số instruction bằng nhau
• Thời gian hai backend bằng nhau
• HTML timeline tự thân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Phụ lục D — Signal RTL cần quan sát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446520"/>
            <a:ext cx="10058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E6B78"/>
                </a:solidFill>
                <a:latin typeface="Arial"/>
              </a:rPr>
              <a:t>BACKUP · 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1005840"/>
            <a:ext cx="2057400" cy="65836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Khối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1005840"/>
            <a:ext cx="6537960" cy="658368"/>
          </a:xfrm>
          <a:prstGeom prst="rect">
            <a:avLst/>
          </a:prstGeom>
          <a:solidFill>
            <a:srgbClr val="123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Signal / nhóm 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166420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FC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9192" y="1664208"/>
            <a:ext cx="6537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fetch_en, core_busy, PC/trace, exit_status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2322576"/>
            <a:ext cx="205740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Cluster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9192" y="2322576"/>
            <a:ext cx="653796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cluster clock/reset/fetch; PE0…7 busy/clock enable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2980944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MCHAN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9192" y="2980944"/>
            <a:ext cx="6537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s_dmac_busy, dma event, TCDM req/gnt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3639311"/>
            <a:ext cx="205740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AXI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9192" y="3639311"/>
            <a:ext cx="653796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AR/R valid-ready; AW/W/B valid-ready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4297679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UDMA UART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9192" y="4297679"/>
            <a:ext cx="6537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clock gate, setup, TX addr/size, busy/event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4956047"/>
            <a:ext cx="205740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D3D"/>
                </a:solidFill>
                <a:latin typeface="Arial"/>
              </a:rPr>
              <a:t>UART pad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9192" y="4956047"/>
            <a:ext cx="6537960" cy="658368"/>
          </a:xfrm>
          <a:prstGeom prst="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D3D"/>
                </a:solidFill>
                <a:latin typeface="Arial"/>
              </a:rPr>
              <a:t>DUT TX / tb w_uart_rx; receiver enable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166360"/>
            <a:ext cx="8595360" cy="1097280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F2A63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276088"/>
            <a:ext cx="8266176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63A3A"/>
                </a:solidFill>
                <a:latin typeface="Arial"/>
              </a:rPr>
              <a:t>ẢNH CẦN BỔ SUNG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550408"/>
            <a:ext cx="8266176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0572"/>
                </a:solidFill>
                <a:latin typeface="Arial"/>
              </a:rPr>
              <a:t>Ảnh signal hierarchy sau khi add wave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6035040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E6B78"/>
                </a:solidFill>
                <a:latin typeface="Arial"/>
              </a:rPr>
              <a:t>Chạy: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" y="6263640"/>
            <a:ext cx="8266176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82296" rIns="82296" tIns="82296" bIns="82296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D3D"/>
                </a:solidFill>
                <a:latin typeface="DejaVu Sans Mono"/>
              </a:rPr>
              <a:t>gtkwave report/gvsoc_demo/rtl/wave/flow_demo.gtkw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751576"/>
            <a:ext cx="8266176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E6B78"/>
                </a:solidFill>
                <a:latin typeface="Arial"/>
              </a:rPr>
              <a:t>Khung cần chụp: Signal list bên trái và cửa sổ wave có phase DMA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629073" y="-2539"/>
            <a:ext cx="9064413" cy="612141"/>
            <a:chOff x="0" y="0"/>
            <a:chExt cx="12085884" cy="816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85828" cy="816229"/>
            </a:xfrm>
            <a:custGeom>
              <a:avLst/>
              <a:gdLst/>
              <a:ahLst/>
              <a:cxnLst/>
              <a:rect r="r" b="b" t="t" l="l"/>
              <a:pathLst>
                <a:path h="816229" w="12085828">
                  <a:moveTo>
                    <a:pt x="0" y="0"/>
                  </a:moveTo>
                  <a:lnTo>
                    <a:pt x="12085828" y="0"/>
                  </a:lnTo>
                  <a:lnTo>
                    <a:pt x="12085828" y="816229"/>
                  </a:lnTo>
                  <a:lnTo>
                    <a:pt x="0" y="816229"/>
                  </a:lnTo>
                  <a:close/>
                </a:path>
              </a:pathLst>
            </a:custGeom>
            <a:solidFill>
              <a:srgbClr val="3366C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94" y="0"/>
            <a:ext cx="894080" cy="894080"/>
          </a:xfrm>
          <a:custGeom>
            <a:avLst/>
            <a:gdLst/>
            <a:ahLst/>
            <a:cxnLst/>
            <a:rect r="r" b="b" t="t" l="l"/>
            <a:pathLst>
              <a:path h="894080" w="894080">
                <a:moveTo>
                  <a:pt x="0" y="0"/>
                </a:moveTo>
                <a:lnTo>
                  <a:pt x="894080" y="0"/>
                </a:lnTo>
                <a:lnTo>
                  <a:pt x="894080" y="894080"/>
                </a:lnTo>
                <a:lnTo>
                  <a:pt x="0" y="89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32019" y="-61199"/>
            <a:ext cx="1281067" cy="837818"/>
            <a:chOff x="0" y="0"/>
            <a:chExt cx="1708089" cy="1117090"/>
          </a:xfrm>
        </p:grpSpPr>
        <p:sp>
          <p:nvSpPr>
            <p:cNvPr name="Freeform 6" id="6" descr="EDA logo_Grass ver.png"/>
            <p:cNvSpPr/>
            <p:nvPr/>
          </p:nvSpPr>
          <p:spPr>
            <a:xfrm flipH="false" flipV="false" rot="0">
              <a:off x="0" y="0"/>
              <a:ext cx="1708150" cy="1117092"/>
            </a:xfrm>
            <a:custGeom>
              <a:avLst/>
              <a:gdLst/>
              <a:ahLst/>
              <a:cxnLst/>
              <a:rect r="r" b="b" t="t" l="l"/>
              <a:pathLst>
                <a:path h="1117092" w="1708150">
                  <a:moveTo>
                    <a:pt x="0" y="0"/>
                  </a:moveTo>
                  <a:lnTo>
                    <a:pt x="1708150" y="0"/>
                  </a:lnTo>
                  <a:lnTo>
                    <a:pt x="1708150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3" b="-6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2275840" y="1310640"/>
            <a:ext cx="1137920" cy="744199"/>
            <a:chOff x="0" y="0"/>
            <a:chExt cx="1517227" cy="992266"/>
          </a:xfrm>
        </p:grpSpPr>
        <p:sp>
          <p:nvSpPr>
            <p:cNvPr name="Freeform 8" id="8" descr="EDA logo_Grass ver.png"/>
            <p:cNvSpPr/>
            <p:nvPr/>
          </p:nvSpPr>
          <p:spPr>
            <a:xfrm flipH="false" flipV="false" rot="0">
              <a:off x="0" y="0"/>
              <a:ext cx="1517269" cy="992251"/>
            </a:xfrm>
            <a:custGeom>
              <a:avLst/>
              <a:gdLst/>
              <a:ahLst/>
              <a:cxnLst/>
              <a:rect r="r" b="b" t="t" l="l"/>
              <a:pathLst>
                <a:path h="992251" w="1517269">
                  <a:moveTo>
                    <a:pt x="0" y="0"/>
                  </a:moveTo>
                  <a:lnTo>
                    <a:pt x="1517269" y="0"/>
                  </a:lnTo>
                  <a:lnTo>
                    <a:pt x="1517269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2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7753" y="66065"/>
            <a:ext cx="7884160" cy="611584"/>
            <a:chOff x="0" y="0"/>
            <a:chExt cx="10512213" cy="8154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2213" cy="815446"/>
            </a:xfrm>
            <a:custGeom>
              <a:avLst/>
              <a:gdLst/>
              <a:ahLst/>
              <a:cxnLst/>
              <a:rect r="r" b="b" t="t" l="l"/>
              <a:pathLst>
                <a:path h="815446" w="10512213">
                  <a:moveTo>
                    <a:pt x="0" y="0"/>
                  </a:moveTo>
                  <a:lnTo>
                    <a:pt x="10512213" y="0"/>
                  </a:lnTo>
                  <a:lnTo>
                    <a:pt x="10512213" y="815446"/>
                  </a:lnTo>
                  <a:lnTo>
                    <a:pt x="0" y="815446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512213" cy="824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07008" y="82296"/>
            <a:ext cx="7818120" cy="512064"/>
          </a:xfrm>
          <a:prstGeom prst="rect">
            <a:avLst/>
          </a:prstGeom>
          <a:noFill/>
        </p:spPr>
        <p:txBody>
          <a:bodyPr wrap="none" lIns="18288" rIns="18288" tIns="18288" bIns="18288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Phụ lục E — Checklist ảnh cần chụp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4114800" cy="2103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E6B78"/>
                </a:solidFill>
                <a:latin typeface="Arial"/>
              </a:rPr>
              <a:t>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446520"/>
            <a:ext cx="10058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E6B78"/>
                </a:solidFill>
                <a:latin typeface="Arial"/>
              </a:rPr>
              <a:t>BACKUP · 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005840"/>
            <a:ext cx="530352" cy="530352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1005840"/>
            <a:ext cx="4041648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r>
              <a:rPr sz="1500" b="1">
                <a:solidFill>
                  <a:srgbClr val="000572"/>
                </a:solidFill>
                <a:latin typeface="Arial"/>
              </a:rPr>
              <a:t>flow_demo waveform — </a:t>
            </a:r>
            <a:r>
              <a:rPr sz="1500" b="0">
                <a:solidFill>
                  <a:srgbClr val="1F2D3D"/>
                </a:solidFill>
                <a:latin typeface="Arial"/>
              </a:rPr>
              <a:t>DMA busy + TCDM + AXI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960120"/>
            <a:ext cx="3840480" cy="65836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1F2D3D"/>
                </a:solidFill>
                <a:latin typeface="DejaVu Sans Mono"/>
              </a:rPr>
              <a:t>gtkwave report/gvsoc_demo/rtl/wave/flow_demo.gtkw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194560"/>
            <a:ext cx="530352" cy="530352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194560"/>
            <a:ext cx="4041648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r>
              <a:rPr sz="1500" b="1">
                <a:solidFill>
                  <a:srgbClr val="000572"/>
                </a:solidFill>
                <a:latin typeface="Arial"/>
              </a:rPr>
              <a:t>UART direct waveform — </a:t>
            </a:r>
            <a:r>
              <a:rPr sz="1500" b="0">
                <a:solidFill>
                  <a:srgbClr val="1F2D3D"/>
                </a:solidFill>
                <a:latin typeface="Arial"/>
              </a:rPr>
              <a:t>w_uart_rx + exit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2148840"/>
            <a:ext cx="3840480" cy="65836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1F2D3D"/>
                </a:solidFill>
                <a:latin typeface="DejaVu Sans Mono"/>
              </a:rPr>
              <a:t>gtkwave report/zcu104_uart_direct/rtl/wave/zcu104_uart_direct.gtkw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83280"/>
            <a:ext cx="530352" cy="530352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383280"/>
            <a:ext cx="4041648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r>
              <a:rPr sz="1500" b="1">
                <a:solidFill>
                  <a:srgbClr val="000572"/>
                </a:solidFill>
                <a:latin typeface="Arial"/>
              </a:rPr>
              <a:t>UART direct viewer — </a:t>
            </a:r>
            <a:r>
              <a:rPr sz="1500" b="0">
                <a:solidFill>
                  <a:srgbClr val="1F2D3D"/>
                </a:solidFill>
                <a:latin typeface="Arial"/>
              </a:rPr>
              <a:t>2 timeline + replay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3337560"/>
            <a:ext cx="3840480" cy="65836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1F2D3D"/>
                </a:solidFill>
                <a:latin typeface="DejaVu Sans Mono"/>
              </a:rPr>
              <a:t>firefox report/zcu104_uart_direct/flow_viewer.html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72000"/>
            <a:ext cx="530352" cy="530352"/>
          </a:xfrm>
          <a:prstGeom prst="roundRect">
            <a:avLst/>
          </a:prstGeom>
          <a:solidFill>
            <a:srgbClr val="F2A63B"/>
          </a:solidFill>
          <a:ln w="12700">
            <a:solidFill>
              <a:srgbClr val="F2A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572000"/>
            <a:ext cx="4041648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r>
              <a:rPr sz="1500" b="1">
                <a:solidFill>
                  <a:srgbClr val="000572"/>
                </a:solidFill>
                <a:latin typeface="Arial"/>
              </a:rPr>
              <a:t>flow_demo viewer — </a:t>
            </a:r>
            <a:r>
              <a:rPr sz="1500" b="0">
                <a:solidFill>
                  <a:srgbClr val="1F2D3D"/>
                </a:solidFill>
                <a:latin typeface="Arial"/>
              </a:rPr>
              <a:t>phase timeline + cycle 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4526280"/>
            <a:ext cx="3840480" cy="65836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>
            <a:norm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1F2D3D"/>
                </a:solidFill>
                <a:latin typeface="DejaVu Sans Mono"/>
              </a:rPr>
              <a:t>firefox report/gvsoc_demo/flow_viewer.html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852160"/>
            <a:ext cx="8412480" cy="438912"/>
          </a:xfrm>
          <a:prstGeom prst="roundRect">
            <a:avLst/>
          </a:prstGeom>
          <a:solidFill>
            <a:srgbClr val="DDF3FA"/>
          </a:solidFill>
          <a:ln w="12700">
            <a:solidFill>
              <a:srgbClr val="00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0572"/>
                </a:solidFill>
                <a:latin typeface="Arial"/>
              </a:rPr>
              <a:t>Quy ước crop: bỏ toolbar thừa; giữ tên signal, time cursor, phase/PC anchor và giá trị cần chứng minh.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DAHR9MEfIFU</dc:identifier>
  <dcterms:modified xsi:type="dcterms:W3CDTF">2011-08-01T06:04:30Z</dcterms:modified>
  <cp:revision>1</cp:revision>
  <dc:title>Nghiên cứu flow thực thi ELF trên PULP: GVSoC và RTL</dc:title>
  <dc:subject>Báo cáo nghiên cứu và kết quả mô phỏng ngày 03/10/2026</dc:subject>
  <dc:creator>Phạm Hùng Hòa; Phạm Chí Dũng; Đỗ Xuân Hào</dc:creator>
  <cp:keywords>PULP, GVSoC, RTL, Questa, ELF, instruction trace, waveform</cp:keywords>
</cp:coreProperties>
</file>